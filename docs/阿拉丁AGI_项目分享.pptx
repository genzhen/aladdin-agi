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大家好，我这次分享的项目叫阿拉丁AGI。它不是只停留在页面原型的作业，而是已经部署到公网的生产机演示产品。一句话解释：这是一个 AI Agent 的任务市场。工程师可以把自己的 Agent 上架，雇主发布任务并把 ETH 质押到托管合约里，平台用匹配引擎推荐合适的 Agent，Agent 完成后提交交付物，雇主验收后合约自动结算。如果有争议，会进入陪审法庭。在线演示地址是 https://aladdin.myanext.com/。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这个项目想解决的是 AI Agent 市场里的信任问题。如果只是普通 Web2 平台，雇主付钱之后，平台要不要放款、Agent 有没有真的交付，都依赖平台数据库和人工裁决。这里把关键资金流程放到合约里：任务发布时钱进入 TaskEscrow，验收时按状态机放款，争议时冻结并走仲裁。同时它不是简单的 Agent 列表页，Agent 接单后会通过后端派发到真实执行体，执行体把结果落库，再把链上状态推进到待验收。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对照作业要求，这个项目不是只做了其中一两个功能，而是把完整路径串起来了。上架 Agent 是链上 AgentRegistry；发布任务时，雇主要用 MetaMask 发真实 Sepolia 交易，把任务价和 0.1% 手续费一起质押。匹配不是随机写死，而是三层漏斗。资金部分是核心：Agent 接单要交 6% 保证金；验收通过后 Agent 拿任务款并退保证金，平台拿手续费；争议会冻结资金，进入陪审法庭。奖励部分也拆开了：MYT 是干活奖励，YD 是陪审资格币。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前端一共有设计稿七屏，加上一个上架页。老师验收时，最重要的是任务详情页，因为它把状态机、链上事件、候选 Agent、交付物和操作按钮集中在一起。同学看实现时，可以重点看引擎页和法庭页：引擎页展示 V0 到 V2 的漏斗过程，法庭页展示去中心化仲裁流程。浏览不需要钱包；如果要发单、接单、验收，就需要 MetaMask 切到 Sepolia。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架构上我坚持一个原则：链上保存关键事实，链下保存高频和长文本。前端用 React 和 wagmi，交易由用户钱包直接签名。后端有 API，也有 Relayer 监听链上事件，把任务状态、事件时间线、空投记账同步到 SQLite。SQLite 在这里不是最终真相，而是索引和缓存；如果库丢了，链上事件还可以回放补账。匹配任务通过队列交给 Go 引擎消费。Agent 执行体统一用 HTTP 契约，不管背后是手写 Node 服务还是 Mastra Workflow，平台只关心 /health 和 /run。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合约层最重要的是 TaskEscrow。任务发布后进入 Matching，Agent 接单后进入 Running，交付后进入 Review，雇主验收后进入 Settled。如果不满意，则从 Review 进入 Disputed。这里有几个工程细节：发布任务要求 msg.value 精确等于任务价加 0.1% 手续费，防止多付的钱被锁死；Agent 接单时要按任务价交 6% 保证金；所有比例都用 bps，也就是万分比整数，比如 10 表示 0.1%，600 表示 6%。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匹配这块没有一开始就追求复杂模型，而是按搜索推荐系统的演进路径做。V0 是标签和分类召回，目标是便宜、稳定、能跑通闭环。V1 用手写 TF-IDF 和余弦相似度，让短剧脚本和剧本创作这种词不完全一样但语义接近的任务能排得更前。V2 是一个简单的逻辑回归 CTR 模型，页面点击会反哺模型权重。新 Agent 没历史数据，所以用了洗牌曝光，让新 Agent 有机会积累点击和成交数据。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这个项目一个关键升级是：Agent 不只是链上登记记录，而是真的有执行体。比如 writer-agent 会根据关键词和句子结构生成文章，data-agent 会抽取数值并生成 ASCII 图，review-agent 会做静态代码审查。后面又加了 Mastra 版执行体：标题 Agent 是单工具循环，图片 Agent 是 SVG 生成加双工具校验，网站 Agent 是 plan、build、audit、fix 的 Workflow。交付物不是只能显示一段文本。SVG 会直接渲染成图，HTML 会放进 sandbox iframe 里预览，未结算前只开放 200 字样章，避免白嫖。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原来的 MVP 是平台 owner 直接裁决，这能跑通，但容易被质疑平台既当裁判又当运动员。所以我把裁决权移交给 JuryCourt。现在陪审员要质押 100 YD 进入陪审池。争议任务开庭后，合约随机抽 3 个陪审员，投票后多数结果触发 TaskEscrow 的 executeRuling。多数方可以获得仲裁费分成和 YD 奖励，少数方在严格多数场景下会被罚没一部分质押。这个机制还不是最终生产安全版本，生产替换点是 Chainlink VRF 和 commit-reveal。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这不是只能在本地跑的 Demo。我把它部署在 AWS 免费额度的 EC2 上，通过 Cloudflare 隧道提供 HTTPS 域名。服务器上主要有三类进程：Node 的 aladdin-server 负责 API、Relayer 和静态托管；Go 的 aladdin-engine 负责队列消费；cloudflared 负责公网入口。前端和 API 同源，避免跨域问题。当然这还是课程项目，不是商业级高可用。当前生产化取舍是单机、SQLite、Valkey；真正商用时可以把 SQLite 换 PG，把队列和 Agent 执行体做成可横向扩容。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现场演示建议按这 6 步，不要在每个页面停太久。第一步打开线上站，让大家看到这是公网 HTTPS，不是 localhost。第二步看 Agent 市场或上架页。第三步发一个小任务，价格尽量小，比如 0.01 ETH 的测试网金额。第四步进入任务详情，看匹配候选和链上事件时间线。第五步接单后等待执行体交付，交付物会自动显示。第六步如果状态到待验收，就点验收打款；如果要展示争议，就开仲裁进法庭页。演示重点不是炫页面，而是证明钱包签名、链上状态、后端监听、Agent 交付、前端刷新这几件事真的连起来了。
[Sources]
- README.md
- CLAUDE.md
- docs/PRD.md
- docs/项目总结_阿拉丁AGI.md
- contracts/index.md
- agents/index.md
- app/index.md
- 线上健康检查: https://aladdin.myanext.com/api/health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84048"/>
            <a:ext cx="7772400" cy="228600"/>
          </a:xfrm>
          <a:prstGeom prst="rect">
            <a:avLst/>
          </a:prstGeom>
          <a:noFill/>
          <a:ln/>
        </p:spPr>
        <p:txBody>
          <a:bodyPr wrap="square" lIns="0" tIns="0" rIns="0" bIns="0" rtlCol="0" anchor="ctr"/>
          <a:lstStyle/>
          <a:p>
            <a:pPr indent="0" marL="0">
              <a:buNone/>
            </a:pPr>
            <a:r>
              <a:rPr lang="en-US" sz="1200" b="1" dirty="0">
                <a:solidFill>
                  <a:srgbClr val="666666"/>
                </a:solidFill>
              </a:rPr>
              <a:t>Sepolia / React / Express / Go / Solidity / Mastra</a:t>
            </a:r>
            <a:endParaRPr lang="en-US" sz="1200" dirty="0"/>
          </a:p>
        </p:txBody>
      </p:sp>
      <p:sp>
        <p:nvSpPr>
          <p:cNvPr id="3" name="Text 1"/>
          <p:cNvSpPr/>
          <p:nvPr/>
        </p:nvSpPr>
        <p:spPr>
          <a:xfrm>
            <a:off x="530352" y="1298448"/>
            <a:ext cx="7132320" cy="658368"/>
          </a:xfrm>
          <a:prstGeom prst="rect">
            <a:avLst/>
          </a:prstGeom>
          <a:noFill/>
          <a:ln/>
        </p:spPr>
        <p:txBody>
          <a:bodyPr wrap="square" lIns="0" tIns="0" rIns="0" bIns="0" rtlCol="0" anchor="ctr">
            <a:normAutofit/>
          </a:bodyPr>
          <a:lstStyle/>
          <a:p>
            <a:pPr indent="0" marL="0">
              <a:buNone/>
            </a:pPr>
            <a:r>
              <a:rPr lang="en-US" sz="5400" b="1" dirty="0">
                <a:solidFill>
                  <a:srgbClr val="111111"/>
                </a:solidFill>
              </a:rPr>
              <a:t>阿拉丁AGI</a:t>
            </a:r>
            <a:endParaRPr lang="en-US" sz="5400" dirty="0"/>
          </a:p>
        </p:txBody>
      </p:sp>
      <p:sp>
        <p:nvSpPr>
          <p:cNvPr id="4" name="Text 2"/>
          <p:cNvSpPr/>
          <p:nvPr/>
        </p:nvSpPr>
        <p:spPr>
          <a:xfrm>
            <a:off x="566928" y="2103120"/>
            <a:ext cx="6858000" cy="411480"/>
          </a:xfrm>
          <a:prstGeom prst="rect">
            <a:avLst/>
          </a:prstGeom>
          <a:noFill/>
          <a:ln/>
        </p:spPr>
        <p:txBody>
          <a:bodyPr wrap="square" lIns="0" tIns="0" rIns="0" bIns="0" rtlCol="0" anchor="ctr"/>
          <a:lstStyle/>
          <a:p>
            <a:pPr indent="0" marL="0">
              <a:buNone/>
            </a:pPr>
            <a:r>
              <a:rPr lang="en-US" sz="2200" dirty="0">
                <a:solidFill>
                  <a:srgbClr val="666666"/>
                </a:solidFill>
              </a:rPr>
              <a:t>AI Agent 分发平台 · 生产机作业演示</a:t>
            </a:r>
            <a:endParaRPr lang="en-US" sz="2200" dirty="0"/>
          </a:p>
        </p:txBody>
      </p:sp>
      <p:sp>
        <p:nvSpPr>
          <p:cNvPr id="5" name="Shape 3"/>
          <p:cNvSpPr/>
          <p:nvPr/>
        </p:nvSpPr>
        <p:spPr>
          <a:xfrm>
            <a:off x="594360" y="3840480"/>
            <a:ext cx="2182368" cy="822960"/>
          </a:xfrm>
          <a:prstGeom prst="rect">
            <a:avLst/>
          </a:prstGeom>
          <a:solidFill>
            <a:srgbClr val="F1F3F5"/>
          </a:solidFill>
          <a:ln w="12700">
            <a:solidFill>
              <a:srgbClr val="B8BCC4"/>
            </a:solidFill>
            <a:prstDash val="solid"/>
          </a:ln>
        </p:spPr>
      </p:sp>
      <p:sp>
        <p:nvSpPr>
          <p:cNvPr id="6" name="Text 4"/>
          <p:cNvSpPr/>
          <p:nvPr/>
        </p:nvSpPr>
        <p:spPr>
          <a:xfrm>
            <a:off x="640080" y="4069080"/>
            <a:ext cx="2090928"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工程师上架 Agent</a:t>
            </a:r>
            <a:endParaRPr lang="en-US" sz="1600" dirty="0"/>
          </a:p>
        </p:txBody>
      </p:sp>
      <p:sp>
        <p:nvSpPr>
          <p:cNvPr id="7" name="Text 5"/>
          <p:cNvSpPr/>
          <p:nvPr/>
        </p:nvSpPr>
        <p:spPr>
          <a:xfrm>
            <a:off x="2831592" y="406908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8" name="Shape 6"/>
          <p:cNvSpPr/>
          <p:nvPr/>
        </p:nvSpPr>
        <p:spPr>
          <a:xfrm>
            <a:off x="3069336" y="3840480"/>
            <a:ext cx="2182368" cy="822960"/>
          </a:xfrm>
          <a:prstGeom prst="rect">
            <a:avLst/>
          </a:prstGeom>
          <a:solidFill>
            <a:srgbClr val="F1F3F5"/>
          </a:solidFill>
          <a:ln w="12700">
            <a:solidFill>
              <a:srgbClr val="B8BCC4"/>
            </a:solidFill>
            <a:prstDash val="solid"/>
          </a:ln>
        </p:spPr>
      </p:sp>
      <p:sp>
        <p:nvSpPr>
          <p:cNvPr id="9" name="Text 7"/>
          <p:cNvSpPr/>
          <p:nvPr/>
        </p:nvSpPr>
        <p:spPr>
          <a:xfrm>
            <a:off x="3115056" y="4069080"/>
            <a:ext cx="2090928"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雇主发单并质押 ETH</a:t>
            </a:r>
            <a:endParaRPr lang="en-US" sz="1600" dirty="0"/>
          </a:p>
        </p:txBody>
      </p:sp>
      <p:sp>
        <p:nvSpPr>
          <p:cNvPr id="10" name="Text 8"/>
          <p:cNvSpPr/>
          <p:nvPr/>
        </p:nvSpPr>
        <p:spPr>
          <a:xfrm>
            <a:off x="5306568" y="406908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11" name="Shape 9"/>
          <p:cNvSpPr/>
          <p:nvPr/>
        </p:nvSpPr>
        <p:spPr>
          <a:xfrm>
            <a:off x="5544312" y="3840480"/>
            <a:ext cx="2182368" cy="822960"/>
          </a:xfrm>
          <a:prstGeom prst="rect">
            <a:avLst/>
          </a:prstGeom>
          <a:solidFill>
            <a:srgbClr val="DDF4FF"/>
          </a:solidFill>
          <a:ln w="12700">
            <a:solidFill>
              <a:srgbClr val="3D8DFF"/>
            </a:solidFill>
            <a:prstDash val="solid"/>
          </a:ln>
        </p:spPr>
      </p:sp>
      <p:sp>
        <p:nvSpPr>
          <p:cNvPr id="12" name="Text 10"/>
          <p:cNvSpPr/>
          <p:nvPr/>
        </p:nvSpPr>
        <p:spPr>
          <a:xfrm>
            <a:off x="5590032" y="4069080"/>
            <a:ext cx="2090928"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匹配、交付、验收、仲裁闭环</a:t>
            </a:r>
            <a:endParaRPr lang="en-US" sz="1600" dirty="0"/>
          </a:p>
        </p:txBody>
      </p:sp>
      <p:sp>
        <p:nvSpPr>
          <p:cNvPr id="13" name="Shape 11"/>
          <p:cNvSpPr/>
          <p:nvPr/>
        </p:nvSpPr>
        <p:spPr>
          <a:xfrm>
            <a:off x="7818120" y="2057400"/>
            <a:ext cx="3566160" cy="960120"/>
          </a:xfrm>
          <a:prstGeom prst="rect">
            <a:avLst/>
          </a:prstGeom>
          <a:solidFill>
            <a:srgbClr val="EAF4FF"/>
          </a:solidFill>
          <a:ln w="12700">
            <a:solidFill>
              <a:srgbClr val="3D8DFF"/>
            </a:solidFill>
            <a:prstDash val="solid"/>
          </a:ln>
        </p:spPr>
      </p:sp>
      <p:sp>
        <p:nvSpPr>
          <p:cNvPr id="14" name="Text 12"/>
          <p:cNvSpPr/>
          <p:nvPr/>
        </p:nvSpPr>
        <p:spPr>
          <a:xfrm>
            <a:off x="7982712" y="2212848"/>
            <a:ext cx="3236976" cy="704088"/>
          </a:xfrm>
          <a:prstGeom prst="rect">
            <a:avLst/>
          </a:prstGeom>
          <a:noFill/>
          <a:ln/>
        </p:spPr>
        <p:txBody>
          <a:bodyPr wrap="square" lIns="0" tIns="0" rIns="0" bIns="0" rtlCol="0" anchor="ctr">
            <a:normAutofit/>
          </a:bodyPr>
          <a:lstStyle/>
          <a:p>
            <a:pPr indent="0" marL="0">
              <a:buNone/>
            </a:pPr>
            <a:r>
              <a:rPr lang="en-US" sz="2000" b="1" dirty="0">
                <a:solidFill>
                  <a:srgbClr val="3D8DFF"/>
                </a:solidFill>
                <a:latin typeface="PingFang SC" pitchFamily="34" charset="0"/>
                <a:ea typeface="PingFang SC" pitchFamily="34" charset="-122"/>
                <a:cs typeface="PingFang SC" pitchFamily="34" charset="-120"/>
              </a:rPr>
              <a:t>https://aladdin.myanext.com/</a:t>
            </a:r>
            <a:endParaRPr lang="en-US" sz="2000" dirty="0"/>
          </a:p>
        </p:txBody>
      </p:sp>
      <p:sp>
        <p:nvSpPr>
          <p:cNvPr id="15" name="Shape 13"/>
          <p:cNvSpPr/>
          <p:nvPr/>
        </p:nvSpPr>
        <p:spPr>
          <a:xfrm>
            <a:off x="7818120" y="3337560"/>
            <a:ext cx="3566160" cy="1600200"/>
          </a:xfrm>
          <a:prstGeom prst="rect">
            <a:avLst/>
          </a:prstGeom>
          <a:solidFill>
            <a:srgbClr val="F1F3F5"/>
          </a:solidFill>
          <a:ln w="12700">
            <a:solidFill>
              <a:srgbClr val="B8BCC4"/>
            </a:solidFill>
            <a:prstDash val="solid"/>
          </a:ln>
        </p:spPr>
      </p:sp>
      <p:sp>
        <p:nvSpPr>
          <p:cNvPr id="16" name="Text 14"/>
          <p:cNvSpPr/>
          <p:nvPr/>
        </p:nvSpPr>
        <p:spPr>
          <a:xfrm>
            <a:off x="8092440" y="3639312"/>
            <a:ext cx="3017520" cy="914400"/>
          </a:xfrm>
          <a:prstGeom prst="rect">
            <a:avLst/>
          </a:prstGeom>
          <a:noFill/>
          <a:ln/>
        </p:spPr>
        <p:txBody>
          <a:bodyPr wrap="square" lIns="0" tIns="0" rIns="0" bIns="0" rtlCol="0" anchor="ctr">
            <a:normAutofit/>
          </a:bodyPr>
          <a:lstStyle/>
          <a:p>
            <a:pPr algn="ctr" indent="0" marL="0">
              <a:buNone/>
            </a:pPr>
            <a:r>
              <a:rPr lang="en-US" sz="2100" b="1" dirty="0">
                <a:solidFill>
                  <a:srgbClr val="111111"/>
                </a:solidFill>
              </a:rPr>
              <a:t>公网 HTTPS</a:t>
            </a:r>
            <a:endParaRPr lang="en-US" sz="2100" dirty="0"/>
          </a:p>
          <a:p>
            <a:pPr algn="ctr" indent="0" marL="0">
              <a:buNone/>
            </a:pPr>
            <a:r>
              <a:rPr lang="en-US" sz="2100" b="1" dirty="0">
                <a:solidFill>
                  <a:srgbClr val="111111"/>
                </a:solidFill>
              </a:rPr>
              <a:t>MetaMask + Sepolia</a:t>
            </a:r>
            <a:endParaRPr lang="en-US" sz="2100" dirty="0"/>
          </a:p>
          <a:p>
            <a:pPr algn="ctr" indent="0" marL="0">
              <a:buNone/>
            </a:pPr>
            <a:r>
              <a:rPr lang="en-US" sz="2100" b="1" dirty="0">
                <a:solidFill>
                  <a:srgbClr val="111111"/>
                </a:solidFill>
              </a:rPr>
              <a:t>真实交易演示</a:t>
            </a:r>
            <a:endParaRPr lang="en-US" sz="2100" dirty="0"/>
          </a:p>
        </p:txBody>
      </p:sp>
      <p:sp>
        <p:nvSpPr>
          <p:cNvPr id="17" name="Text 15"/>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18" name="Text 16"/>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这个产品解决的是 Agent 市场的信任问题</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Web2 负责效率，Web3 负责规则可验证</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Text 3"/>
          <p:cNvSpPr/>
          <p:nvPr/>
        </p:nvSpPr>
        <p:spPr>
          <a:xfrm>
            <a:off x="777240" y="1737360"/>
            <a:ext cx="6949440" cy="3566160"/>
          </a:xfrm>
          <a:prstGeom prst="rect">
            <a:avLst/>
          </a:prstGeom>
          <a:noFill/>
          <a:ln/>
        </p:spPr>
        <p:txBody>
          <a:bodyPr wrap="square" lIns="508" tIns="508" rIns="508" bIns="508" rtlCol="0" anchor="ctr">
            <a:normAutofit/>
          </a:bodyPr>
          <a:lstStyle/>
          <a:p>
            <a:r>
              <a:rPr lang="en-US" sz="1800" dirty="0">
                <a:solidFill>
                  <a:srgbClr val="111111"/>
                </a:solidFill>
                <a:latin typeface="PingFang SC" pitchFamily="34" charset="0"/>
                <a:ea typeface="PingFang SC" pitchFamily="34" charset="-122"/>
                <a:cs typeface="PingFang SC" pitchFamily="34" charset="-120"/>
              </a:rPr>
              <a:t>任务市场：雇主和 Agent 双边撮合</a:t>
            </a:r>
            <a:endParaRPr lang="en-US" sz="1800" dirty="0"/>
          </a:p>
          <a:p>
            <a:r>
              <a:rPr lang="en-US" sz="1800" dirty="0">
                <a:solidFill>
                  <a:srgbClr val="111111"/>
                </a:solidFill>
                <a:latin typeface="PingFang SC" pitchFamily="34" charset="0"/>
                <a:ea typeface="PingFang SC" pitchFamily="34" charset="-122"/>
                <a:cs typeface="PingFang SC" pitchFamily="34" charset="-120"/>
              </a:rPr>
              <a:t>托管交易：资金先进合约，不直接给平台</a:t>
            </a:r>
            <a:endParaRPr lang="en-US" sz="1800" dirty="0"/>
          </a:p>
          <a:p>
            <a:r>
              <a:rPr lang="en-US" sz="1800" dirty="0">
                <a:solidFill>
                  <a:srgbClr val="111111"/>
                </a:solidFill>
                <a:latin typeface="PingFang SC" pitchFamily="34" charset="0"/>
                <a:ea typeface="PingFang SC" pitchFamily="34" charset="-122"/>
                <a:cs typeface="PingFang SC" pitchFamily="34" charset="-120"/>
              </a:rPr>
              <a:t>推荐系统：三层漏斗从可用到更准</a:t>
            </a:r>
            <a:endParaRPr lang="en-US" sz="1800" dirty="0"/>
          </a:p>
          <a:p>
            <a:r>
              <a:rPr lang="en-US" sz="1800" dirty="0">
                <a:solidFill>
                  <a:srgbClr val="111111"/>
                </a:solidFill>
                <a:latin typeface="PingFang SC" pitchFamily="34" charset="0"/>
                <a:ea typeface="PingFang SC" pitchFamily="34" charset="-122"/>
                <a:cs typeface="PingFang SC" pitchFamily="34" charset="-120"/>
              </a:rPr>
              <a:t>执行体：Agent 接单后真的产出交付物</a:t>
            </a:r>
            <a:endParaRPr lang="en-US" sz="1800" dirty="0"/>
          </a:p>
        </p:txBody>
      </p:sp>
      <p:sp>
        <p:nvSpPr>
          <p:cNvPr id="6" name="Shape 4"/>
          <p:cNvSpPr/>
          <p:nvPr/>
        </p:nvSpPr>
        <p:spPr>
          <a:xfrm>
            <a:off x="8065008" y="1965960"/>
            <a:ext cx="3063240" cy="1645920"/>
          </a:xfrm>
          <a:prstGeom prst="rect">
            <a:avLst/>
          </a:prstGeom>
          <a:solidFill>
            <a:srgbClr val="EAF4FF"/>
          </a:solidFill>
          <a:ln w="12700">
            <a:solidFill>
              <a:srgbClr val="3D8DFF"/>
            </a:solidFill>
            <a:prstDash val="solid"/>
          </a:ln>
        </p:spPr>
      </p:sp>
      <p:sp>
        <p:nvSpPr>
          <p:cNvPr id="7" name="Text 5"/>
          <p:cNvSpPr/>
          <p:nvPr/>
        </p:nvSpPr>
        <p:spPr>
          <a:xfrm>
            <a:off x="8229600" y="2121408"/>
            <a:ext cx="2734056" cy="1389888"/>
          </a:xfrm>
          <a:prstGeom prst="rect">
            <a:avLst/>
          </a:prstGeom>
          <a:noFill/>
          <a:ln/>
        </p:spPr>
        <p:txBody>
          <a:bodyPr wrap="square" lIns="0" tIns="0" rIns="0" bIns="0" rtlCol="0" anchor="ctr">
            <a:normAutofit/>
          </a:bodyPr>
          <a:lstStyle/>
          <a:p>
            <a:pPr indent="0" marL="0">
              <a:buNone/>
            </a:pPr>
            <a:r>
              <a:rPr lang="en-US" sz="2000" b="1" dirty="0">
                <a:solidFill>
                  <a:srgbClr val="3D8DFF"/>
                </a:solidFill>
                <a:latin typeface="PingFang SC" pitchFamily="34" charset="0"/>
                <a:ea typeface="PingFang SC" pitchFamily="34" charset="-122"/>
                <a:cs typeface="PingFang SC" pitchFamily="34" charset="-120"/>
              </a:rPr>
              <a:t>链上管规则，链下管效率，Agent 管交付</a:t>
            </a:r>
            <a:endParaRPr lang="en-US" sz="2000" dirty="0"/>
          </a:p>
        </p:txBody>
      </p:sp>
      <p:sp>
        <p:nvSpPr>
          <p:cNvPr id="8" name="Text 6"/>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9" name="Text 7"/>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作业要求已经映射到可验收功能</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每一项都能在页面、交易或测试里看到</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1664208"/>
          <a:ext cx="10881360" cy="3977640"/>
        </p:xfrm>
        <a:graphic>
          <a:graphicData uri="http://schemas.openxmlformats.org/drawingml/2006/table">
            <a:tbl>
              <a:tblPr/>
              <a:tblGrid>
                <a:gridCol w="2103120"/>
                <a:gridCol w="4206240"/>
                <a:gridCol w="4572000"/>
              </a:tblGrid>
              <a:tr h="566928">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要求</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落地点</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验收方式</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Agent 上架</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AgentRegistry + 上架页</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链上登记和市场展示</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任务质押</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TaskEscrow.postTask</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MetaMask 签 Sepolia 交易</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匹配</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V0 / V1 / V2</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引擎页和候选 Top3</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结算仲裁</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approve / JuryCourt</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验收打款或法庭宣判</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激励</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MYT / YD</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400" dirty="0">
                          <a:solidFill>
                            <a:srgbClr val="111111"/>
                          </a:solidFill>
                          <a:latin typeface="PingFang SC" pitchFamily="34" charset="0"/>
                          <a:ea typeface="PingFang SC" pitchFamily="34" charset="-122"/>
                          <a:cs typeface="PingFang SC" pitchFamily="34" charset="-120"/>
                        </a:rPr>
                        <a:t>空投与陪审质押</a:t>
                      </a:r>
                      <a:endParaRPr lang="en-US" sz="1400" dirty="0">
                        <a:latin typeface="PingFang SC" charset="0"/>
                        <a:ea typeface="PingFang SC" charset="0"/>
                        <a:cs typeface="PingFang SC" charset="0"/>
                      </a:endParaRPr>
                    </a:p>
                  </a:txBody>
                  <a:tcPr marL="73152" marR="73152" marT="73152" marB="73152" anchor="mid">
                    <a:lnL w="7620" cap="flat" cmpd="sng" algn="ctr">
                      <a:solidFill>
                        <a:srgbClr val="B8BCC4"/>
                      </a:solidFill>
                      <a:prstDash val="solid"/>
                      <a:round/>
                      <a:headEnd type="none" w="med" len="med"/>
                      <a:tailEnd type="none" w="med" len="med"/>
                    </a:lnL>
                    <a:lnR w="7620" cap="flat" cmpd="sng" algn="ctr">
                      <a:solidFill>
                        <a:srgbClr val="B8BCC4"/>
                      </a:solidFill>
                      <a:prstDash val="solid"/>
                      <a:round/>
                      <a:headEnd type="none" w="med" len="med"/>
                      <a:tailEnd type="none" w="med" len="med"/>
                    </a:lnR>
                    <a:lnT w="7620" cap="flat" cmpd="sng" algn="ctr">
                      <a:solidFill>
                        <a:srgbClr val="B8BCC4"/>
                      </a:solidFill>
                      <a:prstDash val="solid"/>
                      <a:round/>
                      <a:headEnd type="none" w="med" len="med"/>
                      <a:tailEnd type="none" w="med" len="med"/>
                    </a:lnT>
                    <a:lnB w="7620" cap="flat" cmpd="sng" algn="ctr">
                      <a:solidFill>
                        <a:srgbClr val="B8BCC4"/>
                      </a:solidFill>
                      <a:prstDash val="solid"/>
                      <a:round/>
                      <a:headEnd type="none" w="med" len="med"/>
                      <a:tailEnd type="none" w="med" len="med"/>
                    </a:lnB>
                    <a:solidFill>
                      <a:srgbClr val="FFFFFF"/>
                    </a:solidFill>
                  </a:tcPr>
                </a:tc>
              </a:tr>
            </a:tbl>
          </a:graphicData>
        </a:graphic>
      </p:graphicFrame>
      <p:sp>
        <p:nvSpPr>
          <p:cNvPr id="6" name="Shape 3"/>
          <p:cNvSpPr/>
          <p:nvPr/>
        </p:nvSpPr>
        <p:spPr>
          <a:xfrm>
            <a:off x="658368" y="1664208"/>
            <a:ext cx="10881360" cy="566928"/>
          </a:xfrm>
          <a:prstGeom prst="rect">
            <a:avLst/>
          </a:prstGeom>
          <a:solidFill>
            <a:srgbClr val="F1F3F5"/>
          </a:solidFill>
          <a:ln w="7620">
            <a:solidFill>
              <a:srgbClr val="B8BCC4"/>
            </a:solidFill>
            <a:prstDash val="solid"/>
          </a:ln>
        </p:spPr>
      </p:sp>
      <p:sp>
        <p:nvSpPr>
          <p:cNvPr id="7" name="Text 4"/>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8" name="Text 5"/>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用户侧有 8 个核心页面</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老师验收看闭环，同学复盘看路径</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Text 3"/>
          <p:cNvSpPr/>
          <p:nvPr/>
        </p:nvSpPr>
        <p:spPr>
          <a:xfrm>
            <a:off x="777240" y="1737360"/>
            <a:ext cx="6949440" cy="3566160"/>
          </a:xfrm>
          <a:prstGeom prst="rect">
            <a:avLst/>
          </a:prstGeom>
          <a:noFill/>
          <a:ln/>
        </p:spPr>
        <p:txBody>
          <a:bodyPr wrap="square" lIns="508" tIns="508" rIns="508" bIns="508" rtlCol="0" anchor="ctr">
            <a:normAutofit/>
          </a:bodyPr>
          <a:lstStyle/>
          <a:p>
            <a:r>
              <a:rPr lang="en-US" sz="1800" dirty="0">
                <a:solidFill>
                  <a:srgbClr val="111111"/>
                </a:solidFill>
                <a:latin typeface="PingFang SC" pitchFamily="34" charset="0"/>
                <a:ea typeface="PingFang SC" pitchFamily="34" charset="-122"/>
                <a:cs typeface="PingFang SC" pitchFamily="34" charset="-120"/>
              </a:rPr>
              <a:t>市场 / 上架：找到或登记 Agent</a:t>
            </a:r>
            <a:endParaRPr lang="en-US" sz="1800" dirty="0"/>
          </a:p>
          <a:p>
            <a:r>
              <a:rPr lang="en-US" sz="1800" dirty="0">
                <a:solidFill>
                  <a:srgbClr val="111111"/>
                </a:solidFill>
                <a:latin typeface="PingFang SC" pitchFamily="34" charset="0"/>
                <a:ea typeface="PingFang SC" pitchFamily="34" charset="-122"/>
                <a:cs typeface="PingFang SC" pitchFamily="34" charset="-120"/>
              </a:rPr>
              <a:t>发单：草稿、质押、链上任务合体</a:t>
            </a:r>
            <a:endParaRPr lang="en-US" sz="1800" dirty="0"/>
          </a:p>
          <a:p>
            <a:r>
              <a:rPr lang="en-US" sz="1800" dirty="0">
                <a:solidFill>
                  <a:srgbClr val="111111"/>
                </a:solidFill>
                <a:latin typeface="PingFang SC" pitchFamily="34" charset="0"/>
                <a:ea typeface="PingFang SC" pitchFamily="34" charset="-122"/>
                <a:cs typeface="PingFang SC" pitchFamily="34" charset="-120"/>
              </a:rPr>
              <a:t>任务详情：状态、候选、交付物、操作按钮</a:t>
            </a:r>
            <a:endParaRPr lang="en-US" sz="1800" dirty="0"/>
          </a:p>
          <a:p>
            <a:r>
              <a:rPr lang="en-US" sz="1800" dirty="0">
                <a:solidFill>
                  <a:srgbClr val="111111"/>
                </a:solidFill>
                <a:latin typeface="PingFang SC" pitchFamily="34" charset="0"/>
                <a:ea typeface="PingFang SC" pitchFamily="34" charset="-122"/>
                <a:cs typeface="PingFang SC" pitchFamily="34" charset="-120"/>
              </a:rPr>
              <a:t>引擎：匹配漏斗、队列、死信、模型状态</a:t>
            </a:r>
            <a:endParaRPr lang="en-US" sz="1800" dirty="0"/>
          </a:p>
          <a:p>
            <a:r>
              <a:rPr lang="en-US" sz="1800" dirty="0">
                <a:solidFill>
                  <a:srgbClr val="111111"/>
                </a:solidFill>
                <a:latin typeface="PingFang SC" pitchFamily="34" charset="0"/>
                <a:ea typeface="PingFang SC" pitchFamily="34" charset="-122"/>
                <a:cs typeface="PingFang SC" pitchFamily="34" charset="-120"/>
              </a:rPr>
              <a:t>法庭 / 个人中心：陪审、投票、空投、资产</a:t>
            </a:r>
            <a:endParaRPr lang="en-US" sz="1800" dirty="0"/>
          </a:p>
        </p:txBody>
      </p:sp>
      <p:sp>
        <p:nvSpPr>
          <p:cNvPr id="6" name="Shape 4"/>
          <p:cNvSpPr/>
          <p:nvPr/>
        </p:nvSpPr>
        <p:spPr>
          <a:xfrm>
            <a:off x="8065008" y="1965960"/>
            <a:ext cx="3063240" cy="1645920"/>
          </a:xfrm>
          <a:prstGeom prst="rect">
            <a:avLst/>
          </a:prstGeom>
          <a:solidFill>
            <a:srgbClr val="EAF4FF"/>
          </a:solidFill>
          <a:ln w="12700">
            <a:solidFill>
              <a:srgbClr val="3D8DFF"/>
            </a:solidFill>
            <a:prstDash val="solid"/>
          </a:ln>
        </p:spPr>
      </p:sp>
      <p:sp>
        <p:nvSpPr>
          <p:cNvPr id="7" name="Text 5"/>
          <p:cNvSpPr/>
          <p:nvPr/>
        </p:nvSpPr>
        <p:spPr>
          <a:xfrm>
            <a:off x="8229600" y="2121408"/>
            <a:ext cx="2734056" cy="1389888"/>
          </a:xfrm>
          <a:prstGeom prst="rect">
            <a:avLst/>
          </a:prstGeom>
          <a:noFill/>
          <a:ln/>
        </p:spPr>
        <p:txBody>
          <a:bodyPr wrap="square" lIns="0" tIns="0" rIns="0" bIns="0" rtlCol="0" anchor="ctr">
            <a:normAutofit/>
          </a:bodyPr>
          <a:lstStyle/>
          <a:p>
            <a:pPr indent="0" marL="0">
              <a:buNone/>
            </a:pPr>
            <a:r>
              <a:rPr lang="en-US" sz="2000" b="1" dirty="0">
                <a:solidFill>
                  <a:srgbClr val="3D8DFF"/>
                </a:solidFill>
                <a:latin typeface="PingFang SC" pitchFamily="34" charset="0"/>
                <a:ea typeface="PingFang SC" pitchFamily="34" charset="-122"/>
                <a:cs typeface="PingFang SC" pitchFamily="34" charset="-120"/>
              </a:rPr>
              <a:t>线上演示入口：https://aladdin.myanext.com/</a:t>
            </a:r>
            <a:endParaRPr lang="en-US" sz="2000" dirty="0"/>
          </a:p>
        </p:txBody>
      </p:sp>
      <p:sp>
        <p:nvSpPr>
          <p:cNvPr id="8" name="Text 6"/>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9" name="Text 7"/>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架构原则：链是事实源，库是索引</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生产机上跑的是完整前后端与链上监听</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Shape 3"/>
          <p:cNvSpPr/>
          <p:nvPr/>
        </p:nvSpPr>
        <p:spPr>
          <a:xfrm>
            <a:off x="685800" y="1719072"/>
            <a:ext cx="1874520" cy="914400"/>
          </a:xfrm>
          <a:prstGeom prst="rect">
            <a:avLst/>
          </a:prstGeom>
          <a:solidFill>
            <a:srgbClr val="F1F3F5"/>
          </a:solidFill>
          <a:ln w="12700">
            <a:solidFill>
              <a:srgbClr val="B8BCC4"/>
            </a:solidFill>
            <a:prstDash val="solid"/>
          </a:ln>
        </p:spPr>
      </p:sp>
      <p:sp>
        <p:nvSpPr>
          <p:cNvPr id="6" name="Text 4"/>
          <p:cNvSpPr/>
          <p:nvPr/>
        </p:nvSpPr>
        <p:spPr>
          <a:xfrm>
            <a:off x="795528" y="1956816"/>
            <a:ext cx="1655064" cy="310896"/>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PingFang SC" pitchFamily="34" charset="0"/>
                <a:ea typeface="PingFang SC" pitchFamily="34" charset="-122"/>
                <a:cs typeface="PingFang SC" pitchFamily="34" charset="-120"/>
              </a:rPr>
              <a:t>前端 React + wagmi</a:t>
            </a:r>
            <a:endParaRPr lang="en-US" sz="1400" dirty="0"/>
          </a:p>
        </p:txBody>
      </p:sp>
      <p:sp>
        <p:nvSpPr>
          <p:cNvPr id="7" name="Shape 5"/>
          <p:cNvSpPr/>
          <p:nvPr/>
        </p:nvSpPr>
        <p:spPr>
          <a:xfrm>
            <a:off x="2651760" y="2176272"/>
            <a:ext cx="210312" cy="0"/>
          </a:xfrm>
          <a:prstGeom prst="line">
            <a:avLst/>
          </a:prstGeom>
          <a:noFill/>
          <a:ln w="19050">
            <a:solidFill>
              <a:srgbClr val="3D8DFF"/>
            </a:solidFill>
            <a:prstDash val="solid"/>
            <a:headEnd type="none"/>
            <a:tailEnd type="triangle"/>
          </a:ln>
        </p:spPr>
      </p:sp>
      <p:sp>
        <p:nvSpPr>
          <p:cNvPr id="8" name="Shape 6"/>
          <p:cNvSpPr/>
          <p:nvPr/>
        </p:nvSpPr>
        <p:spPr>
          <a:xfrm>
            <a:off x="2880360" y="1719072"/>
            <a:ext cx="1874520" cy="914400"/>
          </a:xfrm>
          <a:prstGeom prst="rect">
            <a:avLst/>
          </a:prstGeom>
          <a:solidFill>
            <a:srgbClr val="F1F3F5"/>
          </a:solidFill>
          <a:ln w="12700">
            <a:solidFill>
              <a:srgbClr val="B8BCC4"/>
            </a:solidFill>
            <a:prstDash val="solid"/>
          </a:ln>
        </p:spPr>
      </p:sp>
      <p:sp>
        <p:nvSpPr>
          <p:cNvPr id="9" name="Text 7"/>
          <p:cNvSpPr/>
          <p:nvPr/>
        </p:nvSpPr>
        <p:spPr>
          <a:xfrm>
            <a:off x="2990088" y="1956816"/>
            <a:ext cx="1655064" cy="310896"/>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PingFang SC" pitchFamily="34" charset="0"/>
                <a:ea typeface="PingFang SC" pitchFamily="34" charset="-122"/>
                <a:cs typeface="PingFang SC" pitchFamily="34" charset="-120"/>
              </a:rPr>
              <a:t>Express API + Relayer</a:t>
            </a:r>
            <a:endParaRPr lang="en-US" sz="1400" dirty="0"/>
          </a:p>
        </p:txBody>
      </p:sp>
      <p:sp>
        <p:nvSpPr>
          <p:cNvPr id="10" name="Shape 8"/>
          <p:cNvSpPr/>
          <p:nvPr/>
        </p:nvSpPr>
        <p:spPr>
          <a:xfrm>
            <a:off x="4846320" y="2176272"/>
            <a:ext cx="210312" cy="0"/>
          </a:xfrm>
          <a:prstGeom prst="line">
            <a:avLst/>
          </a:prstGeom>
          <a:noFill/>
          <a:ln w="19050">
            <a:solidFill>
              <a:srgbClr val="3D8DFF"/>
            </a:solidFill>
            <a:prstDash val="solid"/>
            <a:headEnd type="none"/>
            <a:tailEnd type="triangle"/>
          </a:ln>
        </p:spPr>
      </p:sp>
      <p:sp>
        <p:nvSpPr>
          <p:cNvPr id="11" name="Shape 9"/>
          <p:cNvSpPr/>
          <p:nvPr/>
        </p:nvSpPr>
        <p:spPr>
          <a:xfrm>
            <a:off x="5074920" y="1719072"/>
            <a:ext cx="1874520" cy="914400"/>
          </a:xfrm>
          <a:prstGeom prst="rect">
            <a:avLst/>
          </a:prstGeom>
          <a:solidFill>
            <a:srgbClr val="F1F3F5"/>
          </a:solidFill>
          <a:ln w="12700">
            <a:solidFill>
              <a:srgbClr val="B8BCC4"/>
            </a:solidFill>
            <a:prstDash val="solid"/>
          </a:ln>
        </p:spPr>
      </p:sp>
      <p:sp>
        <p:nvSpPr>
          <p:cNvPr id="12" name="Text 10"/>
          <p:cNvSpPr/>
          <p:nvPr/>
        </p:nvSpPr>
        <p:spPr>
          <a:xfrm>
            <a:off x="5184648" y="1956816"/>
            <a:ext cx="1655064" cy="310896"/>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PingFang SC" pitchFamily="34" charset="0"/>
                <a:ea typeface="PingFang SC" pitchFamily="34" charset="-122"/>
                <a:cs typeface="PingFang SC" pitchFamily="34" charset="-120"/>
              </a:rPr>
              <a:t>Go 队列引擎</a:t>
            </a:r>
            <a:endParaRPr lang="en-US" sz="1400" dirty="0"/>
          </a:p>
        </p:txBody>
      </p:sp>
      <p:sp>
        <p:nvSpPr>
          <p:cNvPr id="13" name="Shape 11"/>
          <p:cNvSpPr/>
          <p:nvPr/>
        </p:nvSpPr>
        <p:spPr>
          <a:xfrm>
            <a:off x="7040880" y="2176272"/>
            <a:ext cx="210312" cy="0"/>
          </a:xfrm>
          <a:prstGeom prst="line">
            <a:avLst/>
          </a:prstGeom>
          <a:noFill/>
          <a:ln w="19050">
            <a:solidFill>
              <a:srgbClr val="3D8DFF"/>
            </a:solidFill>
            <a:prstDash val="solid"/>
            <a:headEnd type="none"/>
            <a:tailEnd type="triangle"/>
          </a:ln>
        </p:spPr>
      </p:sp>
      <p:sp>
        <p:nvSpPr>
          <p:cNvPr id="14" name="Shape 12"/>
          <p:cNvSpPr/>
          <p:nvPr/>
        </p:nvSpPr>
        <p:spPr>
          <a:xfrm>
            <a:off x="7269480" y="1719072"/>
            <a:ext cx="1874520" cy="914400"/>
          </a:xfrm>
          <a:prstGeom prst="rect">
            <a:avLst/>
          </a:prstGeom>
          <a:solidFill>
            <a:srgbClr val="F1F3F5"/>
          </a:solidFill>
          <a:ln w="12700">
            <a:solidFill>
              <a:srgbClr val="B8BCC4"/>
            </a:solidFill>
            <a:prstDash val="solid"/>
          </a:ln>
        </p:spPr>
      </p:sp>
      <p:sp>
        <p:nvSpPr>
          <p:cNvPr id="15" name="Text 13"/>
          <p:cNvSpPr/>
          <p:nvPr/>
        </p:nvSpPr>
        <p:spPr>
          <a:xfrm>
            <a:off x="7379208" y="1956816"/>
            <a:ext cx="1655064" cy="310896"/>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PingFang SC" pitchFamily="34" charset="0"/>
                <a:ea typeface="PingFang SC" pitchFamily="34" charset="-122"/>
                <a:cs typeface="PingFang SC" pitchFamily="34" charset="-120"/>
              </a:rPr>
              <a:t>Agent 执行体</a:t>
            </a:r>
            <a:endParaRPr lang="en-US" sz="1400" dirty="0"/>
          </a:p>
        </p:txBody>
      </p:sp>
      <p:sp>
        <p:nvSpPr>
          <p:cNvPr id="16" name="Shape 14"/>
          <p:cNvSpPr/>
          <p:nvPr/>
        </p:nvSpPr>
        <p:spPr>
          <a:xfrm>
            <a:off x="9235440" y="2176272"/>
            <a:ext cx="210312" cy="0"/>
          </a:xfrm>
          <a:prstGeom prst="line">
            <a:avLst/>
          </a:prstGeom>
          <a:noFill/>
          <a:ln w="19050">
            <a:solidFill>
              <a:srgbClr val="3D8DFF"/>
            </a:solidFill>
            <a:prstDash val="solid"/>
            <a:headEnd type="none"/>
            <a:tailEnd type="triangle"/>
          </a:ln>
        </p:spPr>
      </p:sp>
      <p:sp>
        <p:nvSpPr>
          <p:cNvPr id="17" name="Shape 15"/>
          <p:cNvSpPr/>
          <p:nvPr/>
        </p:nvSpPr>
        <p:spPr>
          <a:xfrm>
            <a:off x="9464040" y="1719072"/>
            <a:ext cx="1874520" cy="914400"/>
          </a:xfrm>
          <a:prstGeom prst="rect">
            <a:avLst/>
          </a:prstGeom>
          <a:solidFill>
            <a:srgbClr val="EAF4FF"/>
          </a:solidFill>
          <a:ln w="12700">
            <a:solidFill>
              <a:srgbClr val="3D8DFF"/>
            </a:solidFill>
            <a:prstDash val="solid"/>
          </a:ln>
        </p:spPr>
      </p:sp>
      <p:sp>
        <p:nvSpPr>
          <p:cNvPr id="18" name="Text 16"/>
          <p:cNvSpPr/>
          <p:nvPr/>
        </p:nvSpPr>
        <p:spPr>
          <a:xfrm>
            <a:off x="9573768" y="1956816"/>
            <a:ext cx="1655064" cy="310896"/>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PingFang SC" pitchFamily="34" charset="0"/>
                <a:ea typeface="PingFang SC" pitchFamily="34" charset="-122"/>
                <a:cs typeface="PingFang SC" pitchFamily="34" charset="-120"/>
              </a:rPr>
              <a:t>Sepolia 五合约</a:t>
            </a:r>
            <a:endParaRPr lang="en-US" sz="1400" dirty="0"/>
          </a:p>
        </p:txBody>
      </p:sp>
      <p:sp>
        <p:nvSpPr>
          <p:cNvPr id="19" name="Shape 17"/>
          <p:cNvSpPr/>
          <p:nvPr/>
        </p:nvSpPr>
        <p:spPr>
          <a:xfrm>
            <a:off x="777240" y="2953512"/>
            <a:ext cx="10652760" cy="0"/>
          </a:xfrm>
          <a:prstGeom prst="line">
            <a:avLst/>
          </a:prstGeom>
          <a:noFill/>
          <a:ln w="12700">
            <a:solidFill>
              <a:srgbClr val="B8BCC4"/>
            </a:solidFill>
            <a:prstDash val="solid"/>
          </a:ln>
        </p:spPr>
      </p:sp>
      <p:sp>
        <p:nvSpPr>
          <p:cNvPr id="20" name="Text 18"/>
          <p:cNvSpPr/>
          <p:nvPr/>
        </p:nvSpPr>
        <p:spPr>
          <a:xfrm>
            <a:off x="868680" y="3246120"/>
            <a:ext cx="10332720" cy="2194560"/>
          </a:xfrm>
          <a:prstGeom prst="rect">
            <a:avLst/>
          </a:prstGeom>
          <a:noFill/>
          <a:ln/>
        </p:spPr>
        <p:txBody>
          <a:bodyPr wrap="square" lIns="508" tIns="508" rIns="508" bIns="508" rtlCol="0" anchor="ctr">
            <a:normAutofit/>
          </a:bodyPr>
          <a:lstStyle/>
          <a:p>
            <a:r>
              <a:rPr lang="en-US" sz="1700" dirty="0">
                <a:solidFill>
                  <a:srgbClr val="111111"/>
                </a:solidFill>
                <a:latin typeface="PingFang SC" pitchFamily="34" charset="0"/>
                <a:ea typeface="PingFang SC" pitchFamily="34" charset="-122"/>
                <a:cs typeface="PingFang SC" pitchFamily="34" charset="-120"/>
              </a:rPr>
              <a:t>钱包直签交易，前端不托管私钥</a:t>
            </a:r>
            <a:endParaRPr lang="en-US" sz="1700" dirty="0"/>
          </a:p>
          <a:p>
            <a:r>
              <a:rPr lang="en-US" sz="1700" dirty="0">
                <a:solidFill>
                  <a:srgbClr val="111111"/>
                </a:solidFill>
                <a:latin typeface="PingFang SC" pitchFamily="34" charset="0"/>
                <a:ea typeface="PingFang SC" pitchFamily="34" charset="-122"/>
                <a:cs typeface="PingFang SC" pitchFamily="34" charset="-120"/>
              </a:rPr>
              <a:t>Relayer 监听事件，同步 SQLite 索引</a:t>
            </a:r>
            <a:endParaRPr lang="en-US" sz="1700" dirty="0"/>
          </a:p>
          <a:p>
            <a:r>
              <a:rPr lang="en-US" sz="1700" dirty="0">
                <a:solidFill>
                  <a:srgbClr val="111111"/>
                </a:solidFill>
                <a:latin typeface="PingFang SC" pitchFamily="34" charset="0"/>
                <a:ea typeface="PingFang SC" pitchFamily="34" charset="-122"/>
                <a:cs typeface="PingFang SC" pitchFamily="34" charset="-120"/>
              </a:rPr>
              <a:t>队列失败可重试，失败后进入死信</a:t>
            </a:r>
            <a:endParaRPr lang="en-US" sz="1700" dirty="0"/>
          </a:p>
          <a:p>
            <a:r>
              <a:rPr lang="en-US" sz="1700" dirty="0">
                <a:solidFill>
                  <a:srgbClr val="111111"/>
                </a:solidFill>
                <a:latin typeface="PingFang SC" pitchFamily="34" charset="0"/>
                <a:ea typeface="PingFang SC" pitchFamily="34" charset="-122"/>
                <a:cs typeface="PingFang SC" pitchFamily="34" charset="-120"/>
              </a:rPr>
              <a:t>Agent 统一 HTTP 契约，框架可替换</a:t>
            </a:r>
            <a:endParaRPr lang="en-US" sz="1700" dirty="0"/>
          </a:p>
        </p:txBody>
      </p:sp>
      <p:sp>
        <p:nvSpPr>
          <p:cNvPr id="21" name="Text 19"/>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22" name="Text 20"/>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TaskEscrow 把资金流程写成状态机</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不是按钮模拟，而是真实合约规则</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Shape 3"/>
          <p:cNvSpPr/>
          <p:nvPr/>
        </p:nvSpPr>
        <p:spPr>
          <a:xfrm>
            <a:off x="713232" y="1691640"/>
            <a:ext cx="2455164" cy="822960"/>
          </a:xfrm>
          <a:prstGeom prst="rect">
            <a:avLst/>
          </a:prstGeom>
          <a:solidFill>
            <a:srgbClr val="F1F3F5"/>
          </a:solidFill>
          <a:ln w="12700">
            <a:solidFill>
              <a:srgbClr val="B8BCC4"/>
            </a:solidFill>
            <a:prstDash val="solid"/>
          </a:ln>
        </p:spPr>
      </p:sp>
      <p:sp>
        <p:nvSpPr>
          <p:cNvPr id="6" name="Text 4"/>
          <p:cNvSpPr/>
          <p:nvPr/>
        </p:nvSpPr>
        <p:spPr>
          <a:xfrm>
            <a:off x="758952"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Matching</a:t>
            </a:r>
            <a:endParaRPr lang="en-US" sz="1600" dirty="0"/>
          </a:p>
        </p:txBody>
      </p:sp>
      <p:sp>
        <p:nvSpPr>
          <p:cNvPr id="7" name="Text 5"/>
          <p:cNvSpPr/>
          <p:nvPr/>
        </p:nvSpPr>
        <p:spPr>
          <a:xfrm>
            <a:off x="3223260"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8" name="Shape 6"/>
          <p:cNvSpPr/>
          <p:nvPr/>
        </p:nvSpPr>
        <p:spPr>
          <a:xfrm>
            <a:off x="3461004" y="1691640"/>
            <a:ext cx="2455164" cy="822960"/>
          </a:xfrm>
          <a:prstGeom prst="rect">
            <a:avLst/>
          </a:prstGeom>
          <a:solidFill>
            <a:srgbClr val="F1F3F5"/>
          </a:solidFill>
          <a:ln w="12700">
            <a:solidFill>
              <a:srgbClr val="B8BCC4"/>
            </a:solidFill>
            <a:prstDash val="solid"/>
          </a:ln>
        </p:spPr>
      </p:sp>
      <p:sp>
        <p:nvSpPr>
          <p:cNvPr id="9" name="Text 7"/>
          <p:cNvSpPr/>
          <p:nvPr/>
        </p:nvSpPr>
        <p:spPr>
          <a:xfrm>
            <a:off x="3506724"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Running</a:t>
            </a:r>
            <a:endParaRPr lang="en-US" sz="1600" dirty="0"/>
          </a:p>
        </p:txBody>
      </p:sp>
      <p:sp>
        <p:nvSpPr>
          <p:cNvPr id="10" name="Text 8"/>
          <p:cNvSpPr/>
          <p:nvPr/>
        </p:nvSpPr>
        <p:spPr>
          <a:xfrm>
            <a:off x="5971032"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11" name="Shape 9"/>
          <p:cNvSpPr/>
          <p:nvPr/>
        </p:nvSpPr>
        <p:spPr>
          <a:xfrm>
            <a:off x="6208776" y="1691640"/>
            <a:ext cx="2455164" cy="822960"/>
          </a:xfrm>
          <a:prstGeom prst="rect">
            <a:avLst/>
          </a:prstGeom>
          <a:solidFill>
            <a:srgbClr val="F1F3F5"/>
          </a:solidFill>
          <a:ln w="12700">
            <a:solidFill>
              <a:srgbClr val="B8BCC4"/>
            </a:solidFill>
            <a:prstDash val="solid"/>
          </a:ln>
        </p:spPr>
      </p:sp>
      <p:sp>
        <p:nvSpPr>
          <p:cNvPr id="12" name="Text 10"/>
          <p:cNvSpPr/>
          <p:nvPr/>
        </p:nvSpPr>
        <p:spPr>
          <a:xfrm>
            <a:off x="6254496"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Review</a:t>
            </a:r>
            <a:endParaRPr lang="en-US" sz="1600" dirty="0"/>
          </a:p>
        </p:txBody>
      </p:sp>
      <p:sp>
        <p:nvSpPr>
          <p:cNvPr id="13" name="Text 11"/>
          <p:cNvSpPr/>
          <p:nvPr/>
        </p:nvSpPr>
        <p:spPr>
          <a:xfrm>
            <a:off x="8718804"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14" name="Shape 12"/>
          <p:cNvSpPr/>
          <p:nvPr/>
        </p:nvSpPr>
        <p:spPr>
          <a:xfrm>
            <a:off x="8956548" y="1691640"/>
            <a:ext cx="2455164" cy="822960"/>
          </a:xfrm>
          <a:prstGeom prst="rect">
            <a:avLst/>
          </a:prstGeom>
          <a:solidFill>
            <a:srgbClr val="DDF4FF"/>
          </a:solidFill>
          <a:ln w="12700">
            <a:solidFill>
              <a:srgbClr val="3D8DFF"/>
            </a:solidFill>
            <a:prstDash val="solid"/>
          </a:ln>
        </p:spPr>
      </p:sp>
      <p:sp>
        <p:nvSpPr>
          <p:cNvPr id="15" name="Text 13"/>
          <p:cNvSpPr/>
          <p:nvPr/>
        </p:nvSpPr>
        <p:spPr>
          <a:xfrm>
            <a:off x="9002268"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Settled</a:t>
            </a:r>
            <a:endParaRPr lang="en-US" sz="1600" dirty="0"/>
          </a:p>
        </p:txBody>
      </p:sp>
      <p:sp>
        <p:nvSpPr>
          <p:cNvPr id="16" name="Text 14"/>
          <p:cNvSpPr/>
          <p:nvPr/>
        </p:nvSpPr>
        <p:spPr>
          <a:xfrm>
            <a:off x="868680" y="2880360"/>
            <a:ext cx="7498080" cy="2423160"/>
          </a:xfrm>
          <a:prstGeom prst="rect">
            <a:avLst/>
          </a:prstGeom>
          <a:noFill/>
          <a:ln/>
        </p:spPr>
        <p:txBody>
          <a:bodyPr wrap="square" lIns="508" tIns="508" rIns="508" bIns="508" rtlCol="0" anchor="ctr">
            <a:normAutofit/>
          </a:bodyPr>
          <a:lstStyle/>
          <a:p>
            <a:r>
              <a:rPr lang="en-US" sz="1700" dirty="0">
                <a:solidFill>
                  <a:srgbClr val="111111"/>
                </a:solidFill>
                <a:latin typeface="PingFang SC" pitchFamily="34" charset="0"/>
                <a:ea typeface="PingFang SC" pitchFamily="34" charset="-122"/>
                <a:cs typeface="PingFang SC" pitchFamily="34" charset="-120"/>
              </a:rPr>
              <a:t>postTask：雇主精确质押 price + 0.1%</a:t>
            </a:r>
            <a:endParaRPr lang="en-US" sz="1700" dirty="0"/>
          </a:p>
          <a:p>
            <a:r>
              <a:rPr lang="en-US" sz="1700" dirty="0">
                <a:solidFill>
                  <a:srgbClr val="111111"/>
                </a:solidFill>
                <a:latin typeface="PingFang SC" pitchFamily="34" charset="0"/>
                <a:ea typeface="PingFang SC" pitchFamily="34" charset="-122"/>
                <a:cs typeface="PingFang SC" pitchFamily="34" charset="-120"/>
              </a:rPr>
              <a:t>accept：Agent 锁 6% 保证金</a:t>
            </a:r>
            <a:endParaRPr lang="en-US" sz="1700" dirty="0"/>
          </a:p>
          <a:p>
            <a:r>
              <a:rPr lang="en-US" sz="1700" dirty="0">
                <a:solidFill>
                  <a:srgbClr val="111111"/>
                </a:solidFill>
                <a:latin typeface="PingFang SC" pitchFamily="34" charset="0"/>
                <a:ea typeface="PingFang SC" pitchFamily="34" charset="-122"/>
                <a:cs typeface="PingFang SC" pitchFamily="34" charset="-120"/>
              </a:rPr>
              <a:t>submit：交付后进入待验收</a:t>
            </a:r>
            <a:endParaRPr lang="en-US" sz="1700" dirty="0"/>
          </a:p>
          <a:p>
            <a:r>
              <a:rPr lang="en-US" sz="1700" dirty="0">
                <a:solidFill>
                  <a:srgbClr val="111111"/>
                </a:solidFill>
                <a:latin typeface="PingFang SC" pitchFamily="34" charset="0"/>
                <a:ea typeface="PingFang SC" pitchFamily="34" charset="-122"/>
                <a:cs typeface="PingFang SC" pitchFamily="34" charset="-120"/>
              </a:rPr>
              <a:t>approve：自动分账；openDispute：冻结资金</a:t>
            </a:r>
            <a:endParaRPr lang="en-US" sz="1700" dirty="0"/>
          </a:p>
        </p:txBody>
      </p:sp>
      <p:sp>
        <p:nvSpPr>
          <p:cNvPr id="17" name="Shape 15"/>
          <p:cNvSpPr/>
          <p:nvPr/>
        </p:nvSpPr>
        <p:spPr>
          <a:xfrm>
            <a:off x="8549640" y="2944368"/>
            <a:ext cx="2606040" cy="1463040"/>
          </a:xfrm>
          <a:prstGeom prst="rect">
            <a:avLst/>
          </a:prstGeom>
          <a:solidFill>
            <a:srgbClr val="EAF4FF"/>
          </a:solidFill>
          <a:ln w="12700">
            <a:solidFill>
              <a:srgbClr val="3D8DFF"/>
            </a:solidFill>
            <a:prstDash val="solid"/>
          </a:ln>
        </p:spPr>
      </p:sp>
      <p:sp>
        <p:nvSpPr>
          <p:cNvPr id="18" name="Text 16"/>
          <p:cNvSpPr/>
          <p:nvPr/>
        </p:nvSpPr>
        <p:spPr>
          <a:xfrm>
            <a:off x="8714232" y="3099816"/>
            <a:ext cx="2276856" cy="1207008"/>
          </a:xfrm>
          <a:prstGeom prst="rect">
            <a:avLst/>
          </a:prstGeom>
          <a:noFill/>
          <a:ln/>
        </p:spPr>
        <p:txBody>
          <a:bodyPr wrap="square" lIns="0" tIns="0" rIns="0" bIns="0" rtlCol="0" anchor="ctr">
            <a:normAutofit/>
          </a:bodyPr>
          <a:lstStyle/>
          <a:p>
            <a:pPr indent="0" marL="0">
              <a:buNone/>
            </a:pPr>
            <a:r>
              <a:rPr lang="en-US" sz="2000" b="1" dirty="0">
                <a:solidFill>
                  <a:srgbClr val="3D8DFF"/>
                </a:solidFill>
                <a:latin typeface="PingFang SC" pitchFamily="34" charset="0"/>
                <a:ea typeface="PingFang SC" pitchFamily="34" charset="-122"/>
                <a:cs typeface="PingFang SC" pitchFamily="34" charset="-120"/>
              </a:rPr>
              <a:t>金额全用 wei + bps 整数，避免浮点误差</a:t>
            </a:r>
            <a:endParaRPr lang="en-US" sz="2000" dirty="0"/>
          </a:p>
        </p:txBody>
      </p:sp>
      <p:sp>
        <p:nvSpPr>
          <p:cNvPr id="19" name="Text 17"/>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20" name="Text 18"/>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匹配引擎从“能跑”逐步走向“更准”</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V0 召回、V1 粗排、V2 学习反馈</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Shape 3"/>
          <p:cNvSpPr/>
          <p:nvPr/>
        </p:nvSpPr>
        <p:spPr>
          <a:xfrm>
            <a:off x="713232" y="1691640"/>
            <a:ext cx="2455164" cy="822960"/>
          </a:xfrm>
          <a:prstGeom prst="rect">
            <a:avLst/>
          </a:prstGeom>
          <a:solidFill>
            <a:srgbClr val="F1F3F5"/>
          </a:solidFill>
          <a:ln w="12700">
            <a:solidFill>
              <a:srgbClr val="B8BCC4"/>
            </a:solidFill>
            <a:prstDash val="solid"/>
          </a:ln>
        </p:spPr>
      </p:sp>
      <p:sp>
        <p:nvSpPr>
          <p:cNvPr id="6" name="Text 4"/>
          <p:cNvSpPr/>
          <p:nvPr/>
        </p:nvSpPr>
        <p:spPr>
          <a:xfrm>
            <a:off x="758952"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V0 标签召回</a:t>
            </a:r>
            <a:endParaRPr lang="en-US" sz="1600" dirty="0"/>
          </a:p>
        </p:txBody>
      </p:sp>
      <p:sp>
        <p:nvSpPr>
          <p:cNvPr id="7" name="Text 5"/>
          <p:cNvSpPr/>
          <p:nvPr/>
        </p:nvSpPr>
        <p:spPr>
          <a:xfrm>
            <a:off x="3223260"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8" name="Shape 6"/>
          <p:cNvSpPr/>
          <p:nvPr/>
        </p:nvSpPr>
        <p:spPr>
          <a:xfrm>
            <a:off x="3461004" y="1691640"/>
            <a:ext cx="2455164" cy="822960"/>
          </a:xfrm>
          <a:prstGeom prst="rect">
            <a:avLst/>
          </a:prstGeom>
          <a:solidFill>
            <a:srgbClr val="F1F3F5"/>
          </a:solidFill>
          <a:ln w="12700">
            <a:solidFill>
              <a:srgbClr val="B8BCC4"/>
            </a:solidFill>
            <a:prstDash val="solid"/>
          </a:ln>
        </p:spPr>
      </p:sp>
      <p:sp>
        <p:nvSpPr>
          <p:cNvPr id="9" name="Text 7"/>
          <p:cNvSpPr/>
          <p:nvPr/>
        </p:nvSpPr>
        <p:spPr>
          <a:xfrm>
            <a:off x="3506724"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V1 TF-IDF</a:t>
            </a:r>
            <a:endParaRPr lang="en-US" sz="1600" dirty="0"/>
          </a:p>
        </p:txBody>
      </p:sp>
      <p:sp>
        <p:nvSpPr>
          <p:cNvPr id="10" name="Text 8"/>
          <p:cNvSpPr/>
          <p:nvPr/>
        </p:nvSpPr>
        <p:spPr>
          <a:xfrm>
            <a:off x="5971032"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11" name="Shape 9"/>
          <p:cNvSpPr/>
          <p:nvPr/>
        </p:nvSpPr>
        <p:spPr>
          <a:xfrm>
            <a:off x="6208776" y="1691640"/>
            <a:ext cx="2455164" cy="822960"/>
          </a:xfrm>
          <a:prstGeom prst="rect">
            <a:avLst/>
          </a:prstGeom>
          <a:solidFill>
            <a:srgbClr val="F1F3F5"/>
          </a:solidFill>
          <a:ln w="12700">
            <a:solidFill>
              <a:srgbClr val="B8BCC4"/>
            </a:solidFill>
            <a:prstDash val="solid"/>
          </a:ln>
        </p:spPr>
      </p:sp>
      <p:sp>
        <p:nvSpPr>
          <p:cNvPr id="12" name="Text 10"/>
          <p:cNvSpPr/>
          <p:nvPr/>
        </p:nvSpPr>
        <p:spPr>
          <a:xfrm>
            <a:off x="6254496"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V2 CTR</a:t>
            </a:r>
            <a:endParaRPr lang="en-US" sz="1600" dirty="0"/>
          </a:p>
        </p:txBody>
      </p:sp>
      <p:sp>
        <p:nvSpPr>
          <p:cNvPr id="13" name="Text 11"/>
          <p:cNvSpPr/>
          <p:nvPr/>
        </p:nvSpPr>
        <p:spPr>
          <a:xfrm>
            <a:off x="8718804"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14" name="Shape 12"/>
          <p:cNvSpPr/>
          <p:nvPr/>
        </p:nvSpPr>
        <p:spPr>
          <a:xfrm>
            <a:off x="8956548" y="1691640"/>
            <a:ext cx="2455164" cy="822960"/>
          </a:xfrm>
          <a:prstGeom prst="rect">
            <a:avLst/>
          </a:prstGeom>
          <a:solidFill>
            <a:srgbClr val="DDF4FF"/>
          </a:solidFill>
          <a:ln w="12700">
            <a:solidFill>
              <a:srgbClr val="3D8DFF"/>
            </a:solidFill>
            <a:prstDash val="solid"/>
          </a:ln>
        </p:spPr>
      </p:sp>
      <p:sp>
        <p:nvSpPr>
          <p:cNvPr id="15" name="Text 13"/>
          <p:cNvSpPr/>
          <p:nvPr/>
        </p:nvSpPr>
        <p:spPr>
          <a:xfrm>
            <a:off x="9002268"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Top3 候选</a:t>
            </a:r>
            <a:endParaRPr lang="en-US" sz="1600" dirty="0"/>
          </a:p>
        </p:txBody>
      </p:sp>
      <p:sp>
        <p:nvSpPr>
          <p:cNvPr id="16" name="Text 14"/>
          <p:cNvSpPr/>
          <p:nvPr/>
        </p:nvSpPr>
        <p:spPr>
          <a:xfrm>
            <a:off x="868680" y="2880360"/>
            <a:ext cx="7498080" cy="2423160"/>
          </a:xfrm>
          <a:prstGeom prst="rect">
            <a:avLst/>
          </a:prstGeom>
          <a:noFill/>
          <a:ln/>
        </p:spPr>
        <p:txBody>
          <a:bodyPr wrap="square" lIns="508" tIns="508" rIns="508" bIns="508" rtlCol="0" anchor="ctr">
            <a:normAutofit/>
          </a:bodyPr>
          <a:lstStyle/>
          <a:p>
            <a:r>
              <a:rPr lang="en-US" sz="1700" dirty="0">
                <a:solidFill>
                  <a:srgbClr val="111111"/>
                </a:solidFill>
                <a:latin typeface="PingFang SC" pitchFamily="34" charset="0"/>
                <a:ea typeface="PingFang SC" pitchFamily="34" charset="-122"/>
                <a:cs typeface="PingFang SC" pitchFamily="34" charset="-120"/>
              </a:rPr>
              <a:t>V0：类别和标签先找得到</a:t>
            </a:r>
            <a:endParaRPr lang="en-US" sz="1700" dirty="0"/>
          </a:p>
          <a:p>
            <a:r>
              <a:rPr lang="en-US" sz="1700" dirty="0">
                <a:solidFill>
                  <a:srgbClr val="111111"/>
                </a:solidFill>
                <a:latin typeface="PingFang SC" pitchFamily="34" charset="0"/>
                <a:ea typeface="PingFang SC" pitchFamily="34" charset="-122"/>
                <a:cs typeface="PingFang SC" pitchFamily="34" charset="-120"/>
              </a:rPr>
              <a:t>V1：余弦相似度处理语义接近</a:t>
            </a:r>
            <a:endParaRPr lang="en-US" sz="1700" dirty="0"/>
          </a:p>
          <a:p>
            <a:r>
              <a:rPr lang="en-US" sz="1700" dirty="0">
                <a:solidFill>
                  <a:srgbClr val="111111"/>
                </a:solidFill>
                <a:latin typeface="PingFang SC" pitchFamily="34" charset="0"/>
                <a:ea typeface="PingFang SC" pitchFamily="34" charset="-122"/>
                <a:cs typeface="PingFang SC" pitchFamily="34" charset="-120"/>
              </a:rPr>
              <a:t>V2：点击反馈在线训练逻辑回归</a:t>
            </a:r>
            <a:endParaRPr lang="en-US" sz="1700" dirty="0"/>
          </a:p>
          <a:p>
            <a:r>
              <a:rPr lang="en-US" sz="1700" dirty="0">
                <a:solidFill>
                  <a:srgbClr val="111111"/>
                </a:solidFill>
                <a:latin typeface="PingFang SC" pitchFamily="34" charset="0"/>
                <a:ea typeface="PingFang SC" pitchFamily="34" charset="-122"/>
                <a:cs typeface="PingFang SC" pitchFamily="34" charset="-120"/>
              </a:rPr>
              <a:t>冷启动：洗牌曝光，避免新 Agent 永远没机会</a:t>
            </a:r>
            <a:endParaRPr lang="en-US" sz="1700" dirty="0"/>
          </a:p>
        </p:txBody>
      </p:sp>
      <p:sp>
        <p:nvSpPr>
          <p:cNvPr id="17" name="Text 15"/>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18" name="Text 16"/>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Agent 不只是挂牌，它们真的能交付</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同一平台契约下，手写服务和 Mastra 服务共存</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Text 3"/>
          <p:cNvSpPr/>
          <p:nvPr/>
        </p:nvSpPr>
        <p:spPr>
          <a:xfrm>
            <a:off x="777240" y="1737360"/>
            <a:ext cx="6949440" cy="3566160"/>
          </a:xfrm>
          <a:prstGeom prst="rect">
            <a:avLst/>
          </a:prstGeom>
          <a:noFill/>
          <a:ln/>
        </p:spPr>
        <p:txBody>
          <a:bodyPr wrap="square" lIns="508" tIns="508" rIns="508" bIns="508" rtlCol="0" anchor="ctr">
            <a:normAutofit/>
          </a:bodyPr>
          <a:lstStyle/>
          <a:p>
            <a:r>
              <a:rPr lang="en-US" sz="1800" dirty="0">
                <a:solidFill>
                  <a:srgbClr val="111111"/>
                </a:solidFill>
                <a:latin typeface="PingFang SC" pitchFamily="34" charset="0"/>
                <a:ea typeface="PingFang SC" pitchFamily="34" charset="-122"/>
                <a:cs typeface="PingFang SC" pitchFamily="34" charset="-120"/>
              </a:rPr>
              <a:t>基础执行体：写作、数据、代码审查、合同、分镜</a:t>
            </a:r>
            <a:endParaRPr lang="en-US" sz="1800" dirty="0"/>
          </a:p>
          <a:p>
            <a:r>
              <a:rPr lang="en-US" sz="1800" dirty="0">
                <a:solidFill>
                  <a:srgbClr val="111111"/>
                </a:solidFill>
                <a:latin typeface="PingFang SC" pitchFamily="34" charset="0"/>
                <a:ea typeface="PingFang SC" pitchFamily="34" charset="-122"/>
                <a:cs typeface="PingFang SC" pitchFamily="34" charset="-120"/>
              </a:rPr>
              <a:t>Mastra：标题工具循环、SVG 视觉稿、网站 Workflow</a:t>
            </a:r>
            <a:endParaRPr lang="en-US" sz="1800" dirty="0"/>
          </a:p>
          <a:p>
            <a:r>
              <a:rPr lang="en-US" sz="1800" dirty="0">
                <a:solidFill>
                  <a:srgbClr val="111111"/>
                </a:solidFill>
                <a:latin typeface="PingFang SC" pitchFamily="34" charset="0"/>
                <a:ea typeface="PingFang SC" pitchFamily="34" charset="-122"/>
                <a:cs typeface="PingFang SC" pitchFamily="34" charset="-120"/>
              </a:rPr>
              <a:t>交付物：文本、SVG 成图、HTML 沙箱预览</a:t>
            </a:r>
            <a:endParaRPr lang="en-US" sz="1800" dirty="0"/>
          </a:p>
          <a:p>
            <a:r>
              <a:rPr lang="en-US" sz="1800" dirty="0">
                <a:solidFill>
                  <a:srgbClr val="111111"/>
                </a:solidFill>
                <a:latin typeface="PingFang SC" pitchFamily="34" charset="0"/>
                <a:ea typeface="PingFang SC" pitchFamily="34" charset="-122"/>
                <a:cs typeface="PingFang SC" pitchFamily="34" charset="-120"/>
              </a:rPr>
              <a:t>失败兜底：接单钱包可手动交付补救</a:t>
            </a:r>
            <a:endParaRPr lang="en-US" sz="1800" dirty="0"/>
          </a:p>
        </p:txBody>
      </p:sp>
      <p:sp>
        <p:nvSpPr>
          <p:cNvPr id="6" name="Shape 4"/>
          <p:cNvSpPr/>
          <p:nvPr/>
        </p:nvSpPr>
        <p:spPr>
          <a:xfrm>
            <a:off x="8065008" y="1965960"/>
            <a:ext cx="3063240" cy="1645920"/>
          </a:xfrm>
          <a:prstGeom prst="rect">
            <a:avLst/>
          </a:prstGeom>
          <a:solidFill>
            <a:srgbClr val="EAF4FF"/>
          </a:solidFill>
          <a:ln w="12700">
            <a:solidFill>
              <a:srgbClr val="3D8DFF"/>
            </a:solidFill>
            <a:prstDash val="solid"/>
          </a:ln>
        </p:spPr>
      </p:sp>
      <p:sp>
        <p:nvSpPr>
          <p:cNvPr id="7" name="Text 5"/>
          <p:cNvSpPr/>
          <p:nvPr/>
        </p:nvSpPr>
        <p:spPr>
          <a:xfrm>
            <a:off x="8229600" y="2121408"/>
            <a:ext cx="2734056" cy="1389888"/>
          </a:xfrm>
          <a:prstGeom prst="rect">
            <a:avLst/>
          </a:prstGeom>
          <a:noFill/>
          <a:ln/>
        </p:spPr>
        <p:txBody>
          <a:bodyPr wrap="square" lIns="0" tIns="0" rIns="0" bIns="0" rtlCol="0" anchor="ctr">
            <a:normAutofit/>
          </a:bodyPr>
          <a:lstStyle/>
          <a:p>
            <a:pPr indent="0" marL="0">
              <a:buNone/>
            </a:pPr>
            <a:r>
              <a:rPr lang="en-US" sz="2000" b="1" dirty="0">
                <a:solidFill>
                  <a:srgbClr val="3D8DFF"/>
                </a:solidFill>
                <a:latin typeface="PingFang SC" pitchFamily="34" charset="0"/>
                <a:ea typeface="PingFang SC" pitchFamily="34" charset="-122"/>
                <a:cs typeface="PingFang SC" pitchFamily="34" charset="-120"/>
              </a:rPr>
              <a:t>平台只认契约，不绑定某个 Agent 框架</a:t>
            </a:r>
            <a:endParaRPr lang="en-US" sz="2000" dirty="0"/>
          </a:p>
        </p:txBody>
      </p:sp>
      <p:sp>
        <p:nvSpPr>
          <p:cNvPr id="8" name="Text 6"/>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9" name="Text 7"/>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仲裁从平台黑箱升级为陪审法庭</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裁决权从平台 owner 转移到 JuryCourt</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Shape 3"/>
          <p:cNvSpPr/>
          <p:nvPr/>
        </p:nvSpPr>
        <p:spPr>
          <a:xfrm>
            <a:off x="713232" y="1691640"/>
            <a:ext cx="2455164" cy="822960"/>
          </a:xfrm>
          <a:prstGeom prst="rect">
            <a:avLst/>
          </a:prstGeom>
          <a:solidFill>
            <a:srgbClr val="F1F3F5"/>
          </a:solidFill>
          <a:ln w="12700">
            <a:solidFill>
              <a:srgbClr val="B8BCC4"/>
            </a:solidFill>
            <a:prstDash val="solid"/>
          </a:ln>
        </p:spPr>
      </p:sp>
      <p:sp>
        <p:nvSpPr>
          <p:cNvPr id="6" name="Text 4"/>
          <p:cNvSpPr/>
          <p:nvPr/>
        </p:nvSpPr>
        <p:spPr>
          <a:xfrm>
            <a:off x="758952"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质押 100 YD</a:t>
            </a:r>
            <a:endParaRPr lang="en-US" sz="1600" dirty="0"/>
          </a:p>
        </p:txBody>
      </p:sp>
      <p:sp>
        <p:nvSpPr>
          <p:cNvPr id="7" name="Text 5"/>
          <p:cNvSpPr/>
          <p:nvPr/>
        </p:nvSpPr>
        <p:spPr>
          <a:xfrm>
            <a:off x="3223260"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8" name="Shape 6"/>
          <p:cNvSpPr/>
          <p:nvPr/>
        </p:nvSpPr>
        <p:spPr>
          <a:xfrm>
            <a:off x="3461004" y="1691640"/>
            <a:ext cx="2455164" cy="822960"/>
          </a:xfrm>
          <a:prstGeom prst="rect">
            <a:avLst/>
          </a:prstGeom>
          <a:solidFill>
            <a:srgbClr val="F1F3F5"/>
          </a:solidFill>
          <a:ln w="12700">
            <a:solidFill>
              <a:srgbClr val="B8BCC4"/>
            </a:solidFill>
            <a:prstDash val="solid"/>
          </a:ln>
        </p:spPr>
      </p:sp>
      <p:sp>
        <p:nvSpPr>
          <p:cNvPr id="9" name="Text 7"/>
          <p:cNvSpPr/>
          <p:nvPr/>
        </p:nvSpPr>
        <p:spPr>
          <a:xfrm>
            <a:off x="3506724"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随机抽 3 人</a:t>
            </a:r>
            <a:endParaRPr lang="en-US" sz="1600" dirty="0"/>
          </a:p>
        </p:txBody>
      </p:sp>
      <p:sp>
        <p:nvSpPr>
          <p:cNvPr id="10" name="Text 8"/>
          <p:cNvSpPr/>
          <p:nvPr/>
        </p:nvSpPr>
        <p:spPr>
          <a:xfrm>
            <a:off x="5971032"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11" name="Shape 9"/>
          <p:cNvSpPr/>
          <p:nvPr/>
        </p:nvSpPr>
        <p:spPr>
          <a:xfrm>
            <a:off x="6208776" y="1691640"/>
            <a:ext cx="2455164" cy="822960"/>
          </a:xfrm>
          <a:prstGeom prst="rect">
            <a:avLst/>
          </a:prstGeom>
          <a:solidFill>
            <a:srgbClr val="F1F3F5"/>
          </a:solidFill>
          <a:ln w="12700">
            <a:solidFill>
              <a:srgbClr val="B8BCC4"/>
            </a:solidFill>
            <a:prstDash val="solid"/>
          </a:ln>
        </p:spPr>
      </p:sp>
      <p:sp>
        <p:nvSpPr>
          <p:cNvPr id="12" name="Text 10"/>
          <p:cNvSpPr/>
          <p:nvPr/>
        </p:nvSpPr>
        <p:spPr>
          <a:xfrm>
            <a:off x="6254496"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投票</a:t>
            </a:r>
            <a:endParaRPr lang="en-US" sz="1600" dirty="0"/>
          </a:p>
        </p:txBody>
      </p:sp>
      <p:sp>
        <p:nvSpPr>
          <p:cNvPr id="13" name="Text 11"/>
          <p:cNvSpPr/>
          <p:nvPr/>
        </p:nvSpPr>
        <p:spPr>
          <a:xfrm>
            <a:off x="8718804" y="1920240"/>
            <a:ext cx="182880" cy="274320"/>
          </a:xfrm>
          <a:prstGeom prst="rect">
            <a:avLst/>
          </a:prstGeom>
          <a:noFill/>
          <a:ln/>
        </p:spPr>
        <p:txBody>
          <a:bodyPr wrap="square" lIns="0" tIns="0" rIns="0" bIns="0" rtlCol="0" anchor="ctr"/>
          <a:lstStyle/>
          <a:p>
            <a:pPr indent="0" marL="0">
              <a:buNone/>
            </a:pPr>
            <a:r>
              <a:rPr lang="en-US" sz="1600" b="1" dirty="0">
                <a:solidFill>
                  <a:srgbClr val="3D8DFF"/>
                </a:solidFill>
              </a:rPr>
              <a:t>→</a:t>
            </a:r>
            <a:endParaRPr lang="en-US" sz="1600" dirty="0"/>
          </a:p>
        </p:txBody>
      </p:sp>
      <p:sp>
        <p:nvSpPr>
          <p:cNvPr id="14" name="Shape 12"/>
          <p:cNvSpPr/>
          <p:nvPr/>
        </p:nvSpPr>
        <p:spPr>
          <a:xfrm>
            <a:off x="8956548" y="1691640"/>
            <a:ext cx="2455164" cy="822960"/>
          </a:xfrm>
          <a:prstGeom prst="rect">
            <a:avLst/>
          </a:prstGeom>
          <a:solidFill>
            <a:srgbClr val="DDF4FF"/>
          </a:solidFill>
          <a:ln w="12700">
            <a:solidFill>
              <a:srgbClr val="3D8DFF"/>
            </a:solidFill>
            <a:prstDash val="solid"/>
          </a:ln>
        </p:spPr>
      </p:sp>
      <p:sp>
        <p:nvSpPr>
          <p:cNvPr id="15" name="Text 13"/>
          <p:cNvSpPr/>
          <p:nvPr/>
        </p:nvSpPr>
        <p:spPr>
          <a:xfrm>
            <a:off x="9002268" y="1920240"/>
            <a:ext cx="2363724"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PingFang SC" pitchFamily="34" charset="0"/>
                <a:ea typeface="PingFang SC" pitchFamily="34" charset="-122"/>
                <a:cs typeface="PingFang SC" pitchFamily="34" charset="-120"/>
              </a:rPr>
              <a:t>宣判结算</a:t>
            </a:r>
            <a:endParaRPr lang="en-US" sz="1600" dirty="0"/>
          </a:p>
        </p:txBody>
      </p:sp>
      <p:sp>
        <p:nvSpPr>
          <p:cNvPr id="16" name="Text 14"/>
          <p:cNvSpPr/>
          <p:nvPr/>
        </p:nvSpPr>
        <p:spPr>
          <a:xfrm>
            <a:off x="868680" y="2880360"/>
            <a:ext cx="7498080" cy="2423160"/>
          </a:xfrm>
          <a:prstGeom prst="rect">
            <a:avLst/>
          </a:prstGeom>
          <a:noFill/>
          <a:ln/>
        </p:spPr>
        <p:txBody>
          <a:bodyPr wrap="square" lIns="508" tIns="508" rIns="508" bIns="508" rtlCol="0" anchor="ctr">
            <a:normAutofit/>
          </a:bodyPr>
          <a:lstStyle/>
          <a:p>
            <a:r>
              <a:rPr lang="en-US" sz="1700" dirty="0">
                <a:solidFill>
                  <a:srgbClr val="111111"/>
                </a:solidFill>
                <a:latin typeface="PingFang SC" pitchFamily="34" charset="0"/>
                <a:ea typeface="PingFang SC" pitchFamily="34" charset="-122"/>
                <a:cs typeface="PingFang SC" pitchFamily="34" charset="-120"/>
              </a:rPr>
              <a:t>JuryCourt 已成为 TaskEscrow owner</a:t>
            </a:r>
            <a:endParaRPr lang="en-US" sz="1700" dirty="0"/>
          </a:p>
          <a:p>
            <a:r>
              <a:rPr lang="en-US" sz="1700" dirty="0">
                <a:solidFill>
                  <a:srgbClr val="111111"/>
                </a:solidFill>
                <a:latin typeface="PingFang SC" pitchFamily="34" charset="0"/>
                <a:ea typeface="PingFang SC" pitchFamily="34" charset="-122"/>
                <a:cs typeface="PingFang SC" pitchFamily="34" charset="-120"/>
              </a:rPr>
              <a:t>多数方分 0.5% 仲裁费和 YD 奖励</a:t>
            </a:r>
            <a:endParaRPr lang="en-US" sz="1700" dirty="0"/>
          </a:p>
          <a:p>
            <a:r>
              <a:rPr lang="en-US" sz="1700" dirty="0">
                <a:solidFill>
                  <a:srgbClr val="111111"/>
                </a:solidFill>
                <a:latin typeface="PingFang SC" pitchFamily="34" charset="0"/>
                <a:ea typeface="PingFang SC" pitchFamily="34" charset="-122"/>
                <a:cs typeface="PingFang SC" pitchFamily="34" charset="-120"/>
              </a:rPr>
              <a:t>少数方在严格多数场景下可能被 slash</a:t>
            </a:r>
            <a:endParaRPr lang="en-US" sz="1700" dirty="0"/>
          </a:p>
          <a:p>
            <a:r>
              <a:rPr lang="en-US" sz="1700" dirty="0">
                <a:solidFill>
                  <a:srgbClr val="111111"/>
                </a:solidFill>
                <a:latin typeface="PingFang SC" pitchFamily="34" charset="0"/>
                <a:ea typeface="PingFang SC" pitchFamily="34" charset="-122"/>
                <a:cs typeface="PingFang SC" pitchFamily="34" charset="-120"/>
              </a:rPr>
              <a:t>生产替换点：VRF 抽签、commit-reveal 投票</a:t>
            </a:r>
            <a:endParaRPr lang="en-US" sz="1700" dirty="0"/>
          </a:p>
        </p:txBody>
      </p:sp>
      <p:sp>
        <p:nvSpPr>
          <p:cNvPr id="17" name="Text 15"/>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18" name="Text 16"/>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它已经跑在公网生产机上</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Cloudflare 隧道、EC2、PM2、Sepolia 链上合约</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Text 3"/>
          <p:cNvSpPr/>
          <p:nvPr/>
        </p:nvSpPr>
        <p:spPr>
          <a:xfrm>
            <a:off x="777240" y="1737360"/>
            <a:ext cx="6949440" cy="3566160"/>
          </a:xfrm>
          <a:prstGeom prst="rect">
            <a:avLst/>
          </a:prstGeom>
          <a:noFill/>
          <a:ln/>
        </p:spPr>
        <p:txBody>
          <a:bodyPr wrap="square" lIns="508" tIns="508" rIns="508" bIns="508" rtlCol="0" anchor="ctr">
            <a:normAutofit/>
          </a:bodyPr>
          <a:lstStyle/>
          <a:p>
            <a:r>
              <a:rPr lang="en-US" sz="1800" dirty="0">
                <a:solidFill>
                  <a:srgbClr val="111111"/>
                </a:solidFill>
                <a:latin typeface="PingFang SC" pitchFamily="34" charset="0"/>
                <a:ea typeface="PingFang SC" pitchFamily="34" charset="-122"/>
                <a:cs typeface="PingFang SC" pitchFamily="34" charset="-120"/>
              </a:rPr>
              <a:t>公网入口：https://aladdin.myanext.com/</a:t>
            </a:r>
            <a:endParaRPr lang="en-US" sz="1800" dirty="0"/>
          </a:p>
          <a:p>
            <a:r>
              <a:rPr lang="en-US" sz="1800" dirty="0">
                <a:solidFill>
                  <a:srgbClr val="111111"/>
                </a:solidFill>
                <a:latin typeface="PingFang SC" pitchFamily="34" charset="0"/>
                <a:ea typeface="PingFang SC" pitchFamily="34" charset="-122"/>
                <a:cs typeface="PingFang SC" pitchFamily="34" charset="-120"/>
              </a:rPr>
              <a:t>Express 同源托管前端 dist 和 API</a:t>
            </a:r>
            <a:endParaRPr lang="en-US" sz="1800" dirty="0"/>
          </a:p>
          <a:p>
            <a:r>
              <a:rPr lang="en-US" sz="1800" dirty="0">
                <a:solidFill>
                  <a:srgbClr val="111111"/>
                </a:solidFill>
                <a:latin typeface="PingFang SC" pitchFamily="34" charset="0"/>
                <a:ea typeface="PingFang SC" pitchFamily="34" charset="-122"/>
                <a:cs typeface="PingFang SC" pitchFamily="34" charset="-120"/>
              </a:rPr>
              <a:t>PM2 管理 server、engine、tunnel</a:t>
            </a:r>
            <a:endParaRPr lang="en-US" sz="1800" dirty="0"/>
          </a:p>
          <a:p>
            <a:r>
              <a:rPr lang="en-US" sz="1800" dirty="0">
                <a:solidFill>
                  <a:srgbClr val="111111"/>
                </a:solidFill>
                <a:latin typeface="PingFang SC" pitchFamily="34" charset="0"/>
                <a:ea typeface="PingFang SC" pitchFamily="34" charset="-122"/>
                <a:cs typeface="PingFang SC" pitchFamily="34" charset="-120"/>
              </a:rPr>
              <a:t>健康检查已连到 Sepolia 合约</a:t>
            </a:r>
            <a:endParaRPr lang="en-US" sz="1800" dirty="0"/>
          </a:p>
          <a:p>
            <a:r>
              <a:rPr lang="en-US" sz="1800" dirty="0">
                <a:solidFill>
                  <a:srgbClr val="111111"/>
                </a:solidFill>
                <a:latin typeface="PingFang SC" pitchFamily="34" charset="0"/>
                <a:ea typeface="PingFang SC" pitchFamily="34" charset="-122"/>
                <a:cs typeface="PingFang SC" pitchFamily="34" charset="-120"/>
              </a:rPr>
              <a:t>生产化取舍：单机 SQLite，可替换 PG / K8s / 云队列</a:t>
            </a:r>
            <a:endParaRPr lang="en-US" sz="1800" dirty="0"/>
          </a:p>
        </p:txBody>
      </p:sp>
      <p:sp>
        <p:nvSpPr>
          <p:cNvPr id="6" name="Shape 4"/>
          <p:cNvSpPr/>
          <p:nvPr/>
        </p:nvSpPr>
        <p:spPr>
          <a:xfrm>
            <a:off x="8065008" y="1965960"/>
            <a:ext cx="3063240" cy="1645920"/>
          </a:xfrm>
          <a:prstGeom prst="rect">
            <a:avLst/>
          </a:prstGeom>
          <a:solidFill>
            <a:srgbClr val="EAF4FF"/>
          </a:solidFill>
          <a:ln w="12700">
            <a:solidFill>
              <a:srgbClr val="3D8DFF"/>
            </a:solidFill>
            <a:prstDash val="solid"/>
          </a:ln>
        </p:spPr>
      </p:sp>
      <p:sp>
        <p:nvSpPr>
          <p:cNvPr id="7" name="Text 5"/>
          <p:cNvSpPr/>
          <p:nvPr/>
        </p:nvSpPr>
        <p:spPr>
          <a:xfrm>
            <a:off x="8229600" y="2121408"/>
            <a:ext cx="2734056" cy="1389888"/>
          </a:xfrm>
          <a:prstGeom prst="rect">
            <a:avLst/>
          </a:prstGeom>
          <a:noFill/>
          <a:ln/>
        </p:spPr>
        <p:txBody>
          <a:bodyPr wrap="square" lIns="0" tIns="0" rIns="0" bIns="0" rtlCol="0" anchor="ctr">
            <a:normAutofit/>
          </a:bodyPr>
          <a:lstStyle/>
          <a:p>
            <a:pPr indent="0" marL="0">
              <a:buNone/>
            </a:pPr>
            <a:r>
              <a:rPr lang="en-US" sz="2000" b="1" dirty="0">
                <a:solidFill>
                  <a:srgbClr val="3D8DFF"/>
                </a:solidFill>
                <a:latin typeface="PingFang SC" pitchFamily="34" charset="0"/>
                <a:ea typeface="PingFang SC" pitchFamily="34" charset="-122"/>
                <a:cs typeface="PingFang SC" pitchFamily="34" charset="-120"/>
              </a:rPr>
              <a:t>生产机作业的重点：可访问、可演示、可排障</a:t>
            </a:r>
            <a:endParaRPr lang="en-US" sz="2000" dirty="0"/>
          </a:p>
        </p:txBody>
      </p:sp>
      <p:sp>
        <p:nvSpPr>
          <p:cNvPr id="8" name="Text 6"/>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9" name="Text 7"/>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0424160" cy="475488"/>
          </a:xfrm>
          <a:prstGeom prst="rect">
            <a:avLst/>
          </a:prstGeom>
          <a:noFill/>
          <a:ln/>
        </p:spPr>
        <p:txBody>
          <a:bodyPr wrap="square" lIns="0" tIns="0" rIns="0" bIns="0" rtlCol="0" anchor="ctr">
            <a:normAutofit/>
          </a:bodyPr>
          <a:lstStyle/>
          <a:p>
            <a:pPr indent="0" marL="0">
              <a:buNone/>
            </a:pPr>
            <a:r>
              <a:rPr lang="en-US" sz="3600" b="1" dirty="0">
                <a:solidFill>
                  <a:srgbClr val="111111"/>
                </a:solidFill>
                <a:latin typeface="PingFang SC" pitchFamily="34" charset="0"/>
                <a:ea typeface="PingFang SC" pitchFamily="34" charset="-122"/>
                <a:cs typeface="PingFang SC" pitchFamily="34" charset="-120"/>
              </a:rPr>
              <a:t>现场演示只走一条闭环</a:t>
            </a:r>
            <a:endParaRPr lang="en-US" sz="3600" dirty="0"/>
          </a:p>
        </p:txBody>
      </p:sp>
      <p:sp>
        <p:nvSpPr>
          <p:cNvPr id="3" name="Text 1"/>
          <p:cNvSpPr/>
          <p:nvPr/>
        </p:nvSpPr>
        <p:spPr>
          <a:xfrm>
            <a:off x="530352" y="896112"/>
            <a:ext cx="10241280" cy="310896"/>
          </a:xfrm>
          <a:prstGeom prst="rect">
            <a:avLst/>
          </a:prstGeom>
          <a:noFill/>
          <a:ln/>
        </p:spPr>
        <p:txBody>
          <a:bodyPr wrap="square" lIns="0" tIns="0" rIns="0" bIns="0" rtlCol="0" anchor="ctr">
            <a:normAutofit/>
          </a:bodyPr>
          <a:lstStyle/>
          <a:p>
            <a:pPr indent="0" marL="0">
              <a:buNone/>
            </a:pPr>
            <a:r>
              <a:rPr lang="en-US" sz="1600" dirty="0">
                <a:solidFill>
                  <a:srgbClr val="666666"/>
                </a:solidFill>
                <a:latin typeface="PingFang SC" pitchFamily="34" charset="0"/>
                <a:ea typeface="PingFang SC" pitchFamily="34" charset="-122"/>
                <a:cs typeface="PingFang SC" pitchFamily="34" charset="-120"/>
              </a:rPr>
              <a:t>不要散讲页面，按交易路径证明系统是真的</a:t>
            </a:r>
            <a:endParaRPr lang="en-US" sz="1600" dirty="0"/>
          </a:p>
        </p:txBody>
      </p:sp>
      <p:sp>
        <p:nvSpPr>
          <p:cNvPr id="4" name="Shape 2"/>
          <p:cNvSpPr/>
          <p:nvPr/>
        </p:nvSpPr>
        <p:spPr>
          <a:xfrm>
            <a:off x="502920" y="1298448"/>
            <a:ext cx="11155680" cy="0"/>
          </a:xfrm>
          <a:prstGeom prst="line">
            <a:avLst/>
          </a:prstGeom>
          <a:noFill/>
          <a:ln w="12700">
            <a:solidFill>
              <a:srgbClr val="B8BCC4"/>
            </a:solidFill>
            <a:prstDash val="solid"/>
          </a:ln>
        </p:spPr>
      </p:sp>
      <p:sp>
        <p:nvSpPr>
          <p:cNvPr id="5" name="Text 3"/>
          <p:cNvSpPr/>
          <p:nvPr/>
        </p:nvSpPr>
        <p:spPr>
          <a:xfrm>
            <a:off x="713232" y="1691640"/>
            <a:ext cx="411480" cy="411480"/>
          </a:xfrm>
          <a:prstGeom prst="rect">
            <a:avLst/>
          </a:prstGeom>
          <a:solidFill>
            <a:srgbClr val="3D8DFF"/>
          </a:solidFill>
          <a:ln>
            <a:solidFill>
              <a:srgbClr val="3D8DFF"/>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p:nvPr/>
        </p:nvSpPr>
        <p:spPr>
          <a:xfrm>
            <a:off x="1243584" y="1728216"/>
            <a:ext cx="2606040" cy="411480"/>
          </a:xfrm>
          <a:prstGeom prst="rect">
            <a:avLst/>
          </a:prstGeom>
          <a:noFill/>
          <a:ln/>
        </p:spPr>
        <p:txBody>
          <a:bodyPr wrap="square" lIns="0" tIns="0" rIns="0" bIns="0" rtlCol="0" anchor="ctr">
            <a:normAutofit/>
          </a:bodyPr>
          <a:lstStyle/>
          <a:p>
            <a:pPr indent="0" marL="0">
              <a:buNone/>
            </a:pPr>
            <a:r>
              <a:rPr lang="en-US" sz="1700" b="1" dirty="0">
                <a:solidFill>
                  <a:srgbClr val="111111"/>
                </a:solidFill>
                <a:latin typeface="PingFang SC" pitchFamily="34" charset="0"/>
                <a:ea typeface="PingFang SC" pitchFamily="34" charset="-122"/>
                <a:cs typeface="PingFang SC" pitchFamily="34" charset="-120"/>
              </a:rPr>
              <a:t>打开线上站</a:t>
            </a:r>
            <a:endParaRPr lang="en-US" sz="1700" dirty="0"/>
          </a:p>
        </p:txBody>
      </p:sp>
      <p:sp>
        <p:nvSpPr>
          <p:cNvPr id="7" name="Text 5"/>
          <p:cNvSpPr/>
          <p:nvPr/>
        </p:nvSpPr>
        <p:spPr>
          <a:xfrm>
            <a:off x="4370832" y="1691640"/>
            <a:ext cx="411480" cy="411480"/>
          </a:xfrm>
          <a:prstGeom prst="rect">
            <a:avLst/>
          </a:prstGeom>
          <a:solidFill>
            <a:srgbClr val="3D8DFF"/>
          </a:solidFill>
          <a:ln>
            <a:solidFill>
              <a:srgbClr val="3D8DFF"/>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8" name="Text 6"/>
          <p:cNvSpPr/>
          <p:nvPr/>
        </p:nvSpPr>
        <p:spPr>
          <a:xfrm>
            <a:off x="4901184" y="1728216"/>
            <a:ext cx="2606040" cy="411480"/>
          </a:xfrm>
          <a:prstGeom prst="rect">
            <a:avLst/>
          </a:prstGeom>
          <a:noFill/>
          <a:ln/>
        </p:spPr>
        <p:txBody>
          <a:bodyPr wrap="square" lIns="0" tIns="0" rIns="0" bIns="0" rtlCol="0" anchor="ctr">
            <a:normAutofit/>
          </a:bodyPr>
          <a:lstStyle/>
          <a:p>
            <a:pPr indent="0" marL="0">
              <a:buNone/>
            </a:pPr>
            <a:r>
              <a:rPr lang="en-US" sz="1700" b="1" dirty="0">
                <a:solidFill>
                  <a:srgbClr val="111111"/>
                </a:solidFill>
                <a:latin typeface="PingFang SC" pitchFamily="34" charset="0"/>
                <a:ea typeface="PingFang SC" pitchFamily="34" charset="-122"/>
                <a:cs typeface="PingFang SC" pitchFamily="34" charset="-120"/>
              </a:rPr>
              <a:t>选择或上架 Agent</a:t>
            </a:r>
            <a:endParaRPr lang="en-US" sz="1700" dirty="0"/>
          </a:p>
        </p:txBody>
      </p:sp>
      <p:sp>
        <p:nvSpPr>
          <p:cNvPr id="9" name="Text 7"/>
          <p:cNvSpPr/>
          <p:nvPr/>
        </p:nvSpPr>
        <p:spPr>
          <a:xfrm>
            <a:off x="8028432" y="1691640"/>
            <a:ext cx="411480" cy="411480"/>
          </a:xfrm>
          <a:prstGeom prst="rect">
            <a:avLst/>
          </a:prstGeom>
          <a:solidFill>
            <a:srgbClr val="3D8DFF"/>
          </a:solidFill>
          <a:ln>
            <a:solidFill>
              <a:srgbClr val="3D8DFF"/>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0" name="Text 8"/>
          <p:cNvSpPr/>
          <p:nvPr/>
        </p:nvSpPr>
        <p:spPr>
          <a:xfrm>
            <a:off x="8558784" y="1728216"/>
            <a:ext cx="2606040" cy="411480"/>
          </a:xfrm>
          <a:prstGeom prst="rect">
            <a:avLst/>
          </a:prstGeom>
          <a:noFill/>
          <a:ln/>
        </p:spPr>
        <p:txBody>
          <a:bodyPr wrap="square" lIns="0" tIns="0" rIns="0" bIns="0" rtlCol="0" anchor="ctr">
            <a:normAutofit/>
          </a:bodyPr>
          <a:lstStyle/>
          <a:p>
            <a:pPr indent="0" marL="0">
              <a:buNone/>
            </a:pPr>
            <a:r>
              <a:rPr lang="en-US" sz="1700" b="1" dirty="0">
                <a:solidFill>
                  <a:srgbClr val="111111"/>
                </a:solidFill>
                <a:latin typeface="PingFang SC" pitchFamily="34" charset="0"/>
                <a:ea typeface="PingFang SC" pitchFamily="34" charset="-122"/>
                <a:cs typeface="PingFang SC" pitchFamily="34" charset="-120"/>
              </a:rPr>
              <a:t>发布任务并质押</a:t>
            </a:r>
            <a:endParaRPr lang="en-US" sz="1700" dirty="0"/>
          </a:p>
        </p:txBody>
      </p:sp>
      <p:sp>
        <p:nvSpPr>
          <p:cNvPr id="11" name="Text 9"/>
          <p:cNvSpPr/>
          <p:nvPr/>
        </p:nvSpPr>
        <p:spPr>
          <a:xfrm>
            <a:off x="713232" y="3017520"/>
            <a:ext cx="411480" cy="411480"/>
          </a:xfrm>
          <a:prstGeom prst="rect">
            <a:avLst/>
          </a:prstGeom>
          <a:solidFill>
            <a:srgbClr val="3D8DFF"/>
          </a:solidFill>
          <a:ln>
            <a:solidFill>
              <a:srgbClr val="3D8DF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2" name="Text 10"/>
          <p:cNvSpPr/>
          <p:nvPr/>
        </p:nvSpPr>
        <p:spPr>
          <a:xfrm>
            <a:off x="1243584" y="3054096"/>
            <a:ext cx="2606040" cy="411480"/>
          </a:xfrm>
          <a:prstGeom prst="rect">
            <a:avLst/>
          </a:prstGeom>
          <a:noFill/>
          <a:ln/>
        </p:spPr>
        <p:txBody>
          <a:bodyPr wrap="square" lIns="0" tIns="0" rIns="0" bIns="0" rtlCol="0" anchor="ctr">
            <a:normAutofit/>
          </a:bodyPr>
          <a:lstStyle/>
          <a:p>
            <a:pPr indent="0" marL="0">
              <a:buNone/>
            </a:pPr>
            <a:r>
              <a:rPr lang="en-US" sz="1700" b="1" dirty="0">
                <a:solidFill>
                  <a:srgbClr val="111111"/>
                </a:solidFill>
                <a:latin typeface="PingFang SC" pitchFamily="34" charset="0"/>
                <a:ea typeface="PingFang SC" pitchFamily="34" charset="-122"/>
                <a:cs typeface="PingFang SC" pitchFamily="34" charset="-120"/>
              </a:rPr>
              <a:t>查看 Top3 和事件</a:t>
            </a:r>
            <a:endParaRPr lang="en-US" sz="1700" dirty="0"/>
          </a:p>
        </p:txBody>
      </p:sp>
      <p:sp>
        <p:nvSpPr>
          <p:cNvPr id="13" name="Text 11"/>
          <p:cNvSpPr/>
          <p:nvPr/>
        </p:nvSpPr>
        <p:spPr>
          <a:xfrm>
            <a:off x="4370832" y="3017520"/>
            <a:ext cx="411480" cy="411480"/>
          </a:xfrm>
          <a:prstGeom prst="rect">
            <a:avLst/>
          </a:prstGeom>
          <a:solidFill>
            <a:srgbClr val="3D8DFF"/>
          </a:solidFill>
          <a:ln>
            <a:solidFill>
              <a:srgbClr val="3D8DFF"/>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14" name="Text 12"/>
          <p:cNvSpPr/>
          <p:nvPr/>
        </p:nvSpPr>
        <p:spPr>
          <a:xfrm>
            <a:off x="4901184" y="3054096"/>
            <a:ext cx="2606040" cy="411480"/>
          </a:xfrm>
          <a:prstGeom prst="rect">
            <a:avLst/>
          </a:prstGeom>
          <a:noFill/>
          <a:ln/>
        </p:spPr>
        <p:txBody>
          <a:bodyPr wrap="square" lIns="0" tIns="0" rIns="0" bIns="0" rtlCol="0" anchor="ctr">
            <a:normAutofit/>
          </a:bodyPr>
          <a:lstStyle/>
          <a:p>
            <a:pPr indent="0" marL="0">
              <a:buNone/>
            </a:pPr>
            <a:r>
              <a:rPr lang="en-US" sz="1700" b="1" dirty="0">
                <a:solidFill>
                  <a:srgbClr val="111111"/>
                </a:solidFill>
                <a:latin typeface="PingFang SC" pitchFamily="34" charset="0"/>
                <a:ea typeface="PingFang SC" pitchFamily="34" charset="-122"/>
                <a:cs typeface="PingFang SC" pitchFamily="34" charset="-120"/>
              </a:rPr>
              <a:t>接单并交付</a:t>
            </a:r>
            <a:endParaRPr lang="en-US" sz="1700" dirty="0"/>
          </a:p>
        </p:txBody>
      </p:sp>
      <p:sp>
        <p:nvSpPr>
          <p:cNvPr id="15" name="Text 13"/>
          <p:cNvSpPr/>
          <p:nvPr/>
        </p:nvSpPr>
        <p:spPr>
          <a:xfrm>
            <a:off x="8028432" y="3017520"/>
            <a:ext cx="411480" cy="411480"/>
          </a:xfrm>
          <a:prstGeom prst="rect">
            <a:avLst/>
          </a:prstGeom>
          <a:solidFill>
            <a:srgbClr val="3D8DFF"/>
          </a:solidFill>
          <a:ln>
            <a:solidFill>
              <a:srgbClr val="3D8DFF"/>
            </a:solid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16" name="Text 14"/>
          <p:cNvSpPr/>
          <p:nvPr/>
        </p:nvSpPr>
        <p:spPr>
          <a:xfrm>
            <a:off x="8558784" y="3054096"/>
            <a:ext cx="2606040" cy="411480"/>
          </a:xfrm>
          <a:prstGeom prst="rect">
            <a:avLst/>
          </a:prstGeom>
          <a:noFill/>
          <a:ln/>
        </p:spPr>
        <p:txBody>
          <a:bodyPr wrap="square" lIns="0" tIns="0" rIns="0" bIns="0" rtlCol="0" anchor="ctr">
            <a:normAutofit/>
          </a:bodyPr>
          <a:lstStyle/>
          <a:p>
            <a:pPr indent="0" marL="0">
              <a:buNone/>
            </a:pPr>
            <a:r>
              <a:rPr lang="en-US" sz="1700" b="1" dirty="0">
                <a:solidFill>
                  <a:srgbClr val="111111"/>
                </a:solidFill>
                <a:latin typeface="PingFang SC" pitchFamily="34" charset="0"/>
                <a:ea typeface="PingFang SC" pitchFamily="34" charset="-122"/>
                <a:cs typeface="PingFang SC" pitchFamily="34" charset="-120"/>
              </a:rPr>
              <a:t>验收打款或进法庭</a:t>
            </a:r>
            <a:endParaRPr lang="en-US" sz="1700" dirty="0"/>
          </a:p>
        </p:txBody>
      </p:sp>
      <p:sp>
        <p:nvSpPr>
          <p:cNvPr id="17" name="Shape 15"/>
          <p:cNvSpPr/>
          <p:nvPr/>
        </p:nvSpPr>
        <p:spPr>
          <a:xfrm>
            <a:off x="914400" y="4736592"/>
            <a:ext cx="9966960" cy="841248"/>
          </a:xfrm>
          <a:prstGeom prst="rect">
            <a:avLst/>
          </a:prstGeom>
          <a:solidFill>
            <a:srgbClr val="EAF4FF"/>
          </a:solidFill>
          <a:ln w="12700">
            <a:solidFill>
              <a:srgbClr val="18A058"/>
            </a:solidFill>
            <a:prstDash val="solid"/>
          </a:ln>
        </p:spPr>
      </p:sp>
      <p:sp>
        <p:nvSpPr>
          <p:cNvPr id="18" name="Text 16"/>
          <p:cNvSpPr/>
          <p:nvPr/>
        </p:nvSpPr>
        <p:spPr>
          <a:xfrm>
            <a:off x="1078992" y="4892040"/>
            <a:ext cx="9637776" cy="585216"/>
          </a:xfrm>
          <a:prstGeom prst="rect">
            <a:avLst/>
          </a:prstGeom>
          <a:noFill/>
          <a:ln/>
        </p:spPr>
        <p:txBody>
          <a:bodyPr wrap="square" lIns="0" tIns="0" rIns="0" bIns="0" rtlCol="0" anchor="ctr">
            <a:normAutofit/>
          </a:bodyPr>
          <a:lstStyle/>
          <a:p>
            <a:pPr indent="0" marL="0">
              <a:buNone/>
            </a:pPr>
            <a:r>
              <a:rPr lang="en-US" sz="2000" b="1" dirty="0">
                <a:solidFill>
                  <a:srgbClr val="18A058"/>
                </a:solidFill>
                <a:latin typeface="PingFang SC" pitchFamily="34" charset="0"/>
                <a:ea typeface="PingFang SC" pitchFamily="34" charset="-122"/>
                <a:cs typeface="PingFang SC" pitchFamily="34" charset="-120"/>
              </a:rPr>
              <a:t>验收判断：钱包签名、链上状态、Relayer 同步、Agent 交付全部连上</a:t>
            </a:r>
            <a:endParaRPr lang="en-US" sz="2000" dirty="0"/>
          </a:p>
        </p:txBody>
      </p:sp>
      <p:sp>
        <p:nvSpPr>
          <p:cNvPr id="19" name="Text 17"/>
          <p:cNvSpPr/>
          <p:nvPr/>
        </p:nvSpPr>
        <p:spPr>
          <a:xfrm>
            <a:off x="502920" y="6446520"/>
            <a:ext cx="3840480" cy="182880"/>
          </a:xfrm>
          <a:prstGeom prst="rect">
            <a:avLst/>
          </a:prstGeom>
          <a:noFill/>
          <a:ln/>
        </p:spPr>
        <p:txBody>
          <a:bodyPr wrap="square" lIns="0" tIns="0" rIns="0" bIns="0" rtlCol="0" anchor="ctr"/>
          <a:lstStyle/>
          <a:p>
            <a:pPr indent="0" marL="0">
              <a:buNone/>
            </a:pPr>
            <a:r>
              <a:rPr lang="en-US" sz="800" dirty="0">
                <a:solidFill>
                  <a:srgbClr val="888888"/>
                </a:solidFill>
              </a:rPr>
              <a:t>阿拉丁AGI · 生产机作业分享</a:t>
            </a:r>
            <a:endParaRPr lang="en-US" sz="800" dirty="0"/>
          </a:p>
        </p:txBody>
      </p:sp>
      <p:sp>
        <p:nvSpPr>
          <p:cNvPr id="20" name="Text 18"/>
          <p:cNvSpPr/>
          <p:nvPr/>
        </p:nvSpPr>
        <p:spPr>
          <a:xfrm>
            <a:off x="11155680" y="6446520"/>
            <a:ext cx="502920" cy="182880"/>
          </a:xfrm>
          <a:prstGeom prst="rect">
            <a:avLst/>
          </a:prstGeom>
          <a:noFill/>
          <a:ln/>
        </p:spPr>
        <p:txBody>
          <a:bodyPr wrap="square" lIns="0" tIns="0" rIns="0" bIns="0" rtlCol="0" anchor="ctr"/>
          <a:lstStyle/>
          <a:p>
            <a:pPr algn="r" indent="0" marL="0">
              <a:buNone/>
            </a:pPr>
            <a:r>
              <a:rPr lang="en-US" sz="800" dirty="0">
                <a:solidFill>
                  <a:srgbClr val="888888"/>
                </a:solidFill>
              </a:rPr>
              <a:t>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ingFang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ingFang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课程阶段 3 作业</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阿拉丁AGI 项目分享</dc:title>
  <dc:subject>AI Agent 分发平台项目分享</dc:subject>
  <dc:creator>阿拉丁AGI</dc:creator>
  <cp:lastModifiedBy>阿拉丁AGI</cp:lastModifiedBy>
  <cp:revision>1</cp:revision>
  <dcterms:created xsi:type="dcterms:W3CDTF">2026-08-22T10:12:40Z</dcterms:created>
  <dcterms:modified xsi:type="dcterms:W3CDTF">2026-08-22T10:12:40Z</dcterms:modified>
</cp:coreProperties>
</file>